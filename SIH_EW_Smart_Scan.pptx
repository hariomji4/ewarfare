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756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B6E"/>
                </a:solidFill>
              </a:rPr>
              <a:t>Interception ratio: 30 unseen scenarios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Interception ratio</c:v>
                </c:pt>
              </c:strCache>
            </c:strRef>
          </c:tx>
          <c:dPt>
            <c:idx val="0"/>
            <c:spPr>
              <a:solidFill>
                <a:srgbClr val="9AA3AF"/>
              </a:solidFill>
            </c:spPr>
          </c:dPt>
          <c:dPt>
            <c:idx val="1"/>
            <c:spPr>
              <a:solidFill>
                <a:srgbClr val="9AA3AF"/>
              </a:solidFill>
            </c:spPr>
          </c:dPt>
          <c:dPt>
            <c:idx val="2"/>
            <c:spPr>
              <a:solidFill>
                <a:srgbClr val="9AA3AF"/>
              </a:solidFill>
            </c:spPr>
          </c:dPt>
          <c:dPt>
            <c:idx val="3"/>
            <c:spPr>
              <a:solidFill>
                <a:srgbClr val="0070C0"/>
              </a:solidFill>
            </c:spPr>
          </c:dPt>
          <c:dPt>
            <c:idx val="4"/>
            <c:spPr>
              <a:solidFill>
                <a:srgbClr val="1E8C45"/>
              </a:solidFill>
            </c:spPr>
          </c:dPt>
          <c:dPt>
            <c:idx val="5"/>
            <c:spPr>
              <a:solidFill>
                <a:srgbClr val="E86A10"/>
              </a:solidFill>
            </c:spPr>
          </c:dPt>
          <c:cat>
            <c:strRef>
              <c:f>Sheet1!$A$2:$A$7</c:f>
              <c:strCache>
                <c:ptCount val="6"/>
                <c:pt idx="0">
                  <c:v>Round-robin sweep</c:v>
                </c:pt>
                <c:pt idx="1">
                  <c:v>Random sweep</c:v>
                </c:pt>
                <c:pt idx="2">
                  <c:v>Bandit</c:v>
                </c:pt>
                <c:pt idx="3">
                  <c:v>Model-based</c:v>
                </c:pt>
                <c:pt idx="4">
                  <c:v>GRU predictor</c:v>
                </c:pt>
                <c:pt idx="5">
                  <c:v>RL (DQN)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0.221</c:v>
                </c:pt>
                <c:pt idx="1">
                  <c:v>0.213</c:v>
                </c:pt>
                <c:pt idx="2">
                  <c:v>0.178</c:v>
                </c:pt>
                <c:pt idx="3">
                  <c:v>0.317</c:v>
                </c:pt>
                <c:pt idx="4">
                  <c:v>0.358</c:v>
                </c:pt>
                <c:pt idx="5">
                  <c:v>0.394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3E3"/>
            </a:solidFill>
          </a:ln>
        </c:spPr>
        <c:txPr>
          <a:bodyPr/>
          <a:lstStyle/>
          <a:p>
            <a:pPr>
              <a:defRPr sz="1100">
                <a:solidFill>
                  <a:srgbClr val="2222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8/20/2024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8/20/2024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8/20/2024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8/20/2024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8/20/2024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8/20/2024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8/20/2024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8/20/2024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576072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 sz="2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SCAN STRATEGY FOR ELECTRONIC WARFARE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2024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Google Shape;9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03911" y="81376"/>
            <a:ext cx="2246575" cy="114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SMART SCAN: AI-Driven ES Receiver Scheduler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Google Shape;9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03911" y="81376"/>
            <a:ext cx="2246575" cy="114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362" name="TextBox 15361"/>
          <p:cNvSpPr txBox="1"/>
          <p:nvPr/>
        </p:nvSpPr>
        <p:spPr>
          <a:xfrm>
            <a:off x="320040" y="118872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/>
              <a:buChar char="v"/>
            </a:pPr>
            <a:r>
              <a:rPr sz="2400" b="1" u="sng">
                <a:solidFill>
                  <a:srgbClr val="1F3B6E"/>
                </a:solidFill>
                <a:latin typeface="Arial"/>
              </a:rPr>
              <a:t>Proposed Solution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737360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1">
                <a:solidFill>
                  <a:srgbClr val="555F6D"/>
                </a:solidFill>
                <a:latin typeface="Arial"/>
              </a:rPr>
              <a:t>A software “brain” for a swept Electronic Support (ES) receiver that decides, every 10 ms dwell, which frequency band to listen to next - learning from its own hits and misses, with no prior intelligence of emitters.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57200" y="24231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5" name="Oval 15364"/>
          <p:cNvSpPr/>
          <p:nvPr/>
        </p:nvSpPr>
        <p:spPr>
          <a:xfrm>
            <a:off x="640080" y="2587752"/>
            <a:ext cx="384048" cy="384048"/>
          </a:xfrm>
          <a:prstGeom prst="ellipse">
            <a:avLst/>
          </a:prstGeom>
          <a:solidFill>
            <a:srgbClr val="E86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1115568" y="2578608"/>
            <a:ext cx="283464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1F3B6E"/>
                </a:solidFill>
                <a:latin typeface="Arial"/>
              </a:rPr>
              <a:t>What we built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621792" y="3081528"/>
            <a:ext cx="3337560" cy="2331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RF environment simulator: radars, frequency-agile emitters, comms, pop-up threats, with ground truth per band per slot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Receiver model: noise floor, Pd / Pfa, sensitivity (-72 dBm)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ML scheduler: GRU activity predictor + Deep RL (Double-DQN)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Live web dashboard for demo and analysis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4274820" y="24231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9" name="Oval 15368"/>
          <p:cNvSpPr/>
          <p:nvPr/>
        </p:nvSpPr>
        <p:spPr>
          <a:xfrm>
            <a:off x="4457700" y="2587752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933188" y="2578608"/>
            <a:ext cx="283464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1F3B6E"/>
                </a:solidFill>
                <a:latin typeface="Arial"/>
              </a:rPr>
              <a:t>How it solves the problem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4439412" y="3081528"/>
            <a:ext cx="3337560" cy="2331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Replaces the open-loop, pre-planned sweep with a closed-loop scan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Learns scan periods and hop patterns online, then revisits exactly when a beam illuminates us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Coverage shield keeps sweeping for new / pop-up threats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Predicts intercept time and interception ratio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8092440" y="2423160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3" name="Oval 15372"/>
          <p:cNvSpPr/>
          <p:nvPr/>
        </p:nvSpPr>
        <p:spPr>
          <a:xfrm>
            <a:off x="8275319" y="2587752"/>
            <a:ext cx="384048" cy="384048"/>
          </a:xfrm>
          <a:prstGeom prst="ellipse">
            <a:avLst/>
          </a:prstGeom>
          <a:solidFill>
            <a:srgbClr val="1E8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8750808" y="2578608"/>
            <a:ext cx="283464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1F3B6E"/>
                </a:solidFill>
                <a:latin typeface="Arial"/>
              </a:rPr>
              <a:t>Innovation &amp; uniqueness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8257031" y="3081528"/>
            <a:ext cx="3337560" cy="2331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Zero prior intelligence: trained on thousands of randomised emitter laydowns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Residual learning: the neural net corrects a physics-based phase model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gcd / vernier rule removes periodic-scan lock-out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Arial"/>
              </a:rPr>
              <a:t>RL with a safety shield plus an explainable model-based fallback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457200" y="5605272"/>
            <a:ext cx="11292840" cy="566928"/>
          </a:xfrm>
          <a:prstGeom prst="roundRect">
            <a:avLst>
              <a:gd name="adj" fmla="val 8000"/>
            </a:avLst>
          </a:prstGeom>
          <a:solidFill>
            <a:srgbClr val="F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TextBox 15376"/>
          <p:cNvSpPr txBox="1"/>
          <p:nvPr/>
        </p:nvSpPr>
        <p:spPr>
          <a:xfrm>
            <a:off x="594360" y="5605272"/>
            <a:ext cx="1106424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1F3B6E"/>
                </a:solidFill>
                <a:latin typeface="Arial"/>
              </a:rPr>
              <a:t>Prototype result on 30 unseen scenarios: 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+78% interception ratio  |  +85% threat-weighted  |  15% fresher emitter picture vs conventional sweep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8" name="Google Shape;9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03911" y="81376"/>
            <a:ext cx="2246575" cy="114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sp>
        <p:nvSpPr>
          <p:cNvPr id="17410" name="TextBox 17409"/>
          <p:cNvSpPr txBox="1"/>
          <p:nvPr/>
        </p:nvSpPr>
        <p:spPr>
          <a:xfrm>
            <a:off x="320040" y="11430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/>
              <a:buChar char="v"/>
            </a:pPr>
            <a:r>
              <a:rPr sz="2000" b="1" u="sng">
                <a:solidFill>
                  <a:srgbClr val="1F3B6E"/>
                </a:solidFill>
                <a:latin typeface="Arial"/>
              </a:rPr>
              <a:t>Technologies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737360"/>
            <a:ext cx="3840480" cy="56692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66928" y="1737360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B6E"/>
                </a:solidFill>
                <a:latin typeface="Arial"/>
              </a:rPr>
              <a:t>Language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783080" y="1737360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Arial"/>
              </a:rPr>
              <a:t>Python 3.11, JavaScript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57200" y="2395728"/>
            <a:ext cx="3840480" cy="56692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566928" y="2395728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B6E"/>
                </a:solidFill>
                <a:latin typeface="Arial"/>
              </a:rPr>
              <a:t>ML / DL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783080" y="2395728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Arial"/>
              </a:rPr>
              <a:t>PyTorch: GRU predictor, Double-DQN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57200" y="3054096"/>
            <a:ext cx="3840480" cy="56692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566928" y="3054096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B6E"/>
                </a:solidFill>
                <a:latin typeface="Arial"/>
              </a:rPr>
              <a:t>Signal model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783080" y="3054096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Arial"/>
              </a:rPr>
              <a:t>NumPy, SciPy (χ² energy detector)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57200" y="3712463"/>
            <a:ext cx="3840480" cy="56692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566928" y="3712463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B6E"/>
                </a:solidFill>
                <a:latin typeface="Arial"/>
              </a:rPr>
              <a:t>Backend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1783080" y="3712463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Arial"/>
              </a:rPr>
              <a:t>FastAPI, Uvicorn (REST API)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57200" y="4370831"/>
            <a:ext cx="3840480" cy="56692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566928" y="4370831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B6E"/>
                </a:solidFill>
                <a:latin typeface="Arial"/>
              </a:rPr>
              <a:t>Frontend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783080" y="4370831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Arial"/>
              </a:rPr>
              <a:t>HTML5 Canvas, Chart.js dashboard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57200" y="5029199"/>
            <a:ext cx="3840480" cy="56692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566928" y="502919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B6E"/>
                </a:solidFill>
                <a:latin typeface="Arial"/>
              </a:rPr>
              <a:t>Hardware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783080" y="5029199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Arial"/>
              </a:rPr>
              <a:t>Runs on a laptop CPU - no GPU needed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617720" y="1143000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/>
              <a:buChar char="v"/>
            </a:pPr>
            <a:r>
              <a:rPr sz="2000" b="1" u="sng">
                <a:solidFill>
                  <a:srgbClr val="1F3B6E"/>
                </a:solidFill>
                <a:latin typeface="Arial"/>
              </a:rPr>
              <a:t>Methodology &amp; implementation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4663440" y="1828800"/>
            <a:ext cx="1243584" cy="141732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12700">
            <a:solidFill>
              <a:srgbClr val="E86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Oval 17430"/>
          <p:cNvSpPr/>
          <p:nvPr/>
        </p:nvSpPr>
        <p:spPr>
          <a:xfrm>
            <a:off x="5111495" y="1645920"/>
            <a:ext cx="347472" cy="347472"/>
          </a:xfrm>
          <a:prstGeom prst="ellipse">
            <a:avLst/>
          </a:prstGeom>
          <a:solidFill>
            <a:srgbClr val="E86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709159" y="2029968"/>
            <a:ext cx="1152144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F3B6E"/>
                </a:solidFill>
                <a:latin typeface="Arial"/>
              </a:rPr>
              <a:t>RF environment simulator</a:t>
            </a:r>
          </a:p>
          <a:p>
            <a:pPr algn="ctr"/>
            <a:r>
              <a:rPr sz="1000" b="0" i="0">
                <a:solidFill>
                  <a:srgbClr val="555F6D"/>
                </a:solidFill>
                <a:latin typeface="Arial"/>
              </a:rPr>
              <a:t>emitters + ground truth per band / slot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5934456" y="2537460"/>
            <a:ext cx="192024" cy="0"/>
          </a:xfrm>
          <a:prstGeom prst="line">
            <a:avLst/>
          </a:prstGeom>
          <a:ln w="22225">
            <a:solidFill>
              <a:srgbClr val="1F3B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Rounded Rectangle 17433"/>
          <p:cNvSpPr/>
          <p:nvPr/>
        </p:nvSpPr>
        <p:spPr>
          <a:xfrm>
            <a:off x="6153912" y="1828800"/>
            <a:ext cx="1243584" cy="141732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Oval 17434"/>
          <p:cNvSpPr/>
          <p:nvPr/>
        </p:nvSpPr>
        <p:spPr>
          <a:xfrm>
            <a:off x="6601967" y="1645920"/>
            <a:ext cx="347472" cy="34747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6199631" y="2029968"/>
            <a:ext cx="1152144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F3B6E"/>
                </a:solidFill>
                <a:latin typeface="Arial"/>
              </a:rPr>
              <a:t>Receiver model</a:t>
            </a:r>
          </a:p>
          <a:p>
            <a:pPr algn="ctr"/>
            <a:r>
              <a:rPr sz="1000" b="0" i="0">
                <a:solidFill>
                  <a:srgbClr val="555F6D"/>
                </a:solidFill>
                <a:latin typeface="Arial"/>
              </a:rPr>
              <a:t>Pd, Pfa, sensitivity, 1 band per 10 ms dwell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7424927" y="2537460"/>
            <a:ext cx="192025" cy="0"/>
          </a:xfrm>
          <a:prstGeom prst="line">
            <a:avLst/>
          </a:prstGeom>
          <a:ln w="22225">
            <a:solidFill>
              <a:srgbClr val="1F3B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Rounded Rectangle 17437"/>
          <p:cNvSpPr/>
          <p:nvPr/>
        </p:nvSpPr>
        <p:spPr>
          <a:xfrm>
            <a:off x="7644383" y="1828800"/>
            <a:ext cx="1243584" cy="141732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Oval 17438"/>
          <p:cNvSpPr/>
          <p:nvPr/>
        </p:nvSpPr>
        <p:spPr>
          <a:xfrm>
            <a:off x="8092440" y="1645920"/>
            <a:ext cx="347472" cy="34747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7690104" y="2029968"/>
            <a:ext cx="1152144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F3B6E"/>
                </a:solidFill>
                <a:latin typeface="Arial"/>
              </a:rPr>
              <a:t>Observation tracker</a:t>
            </a:r>
          </a:p>
          <a:p>
            <a:pPr algn="ctr"/>
            <a:r>
              <a:rPr sz="1000" b="0" i="0">
                <a:solidFill>
                  <a:srgbClr val="555F6D"/>
                </a:solidFill>
                <a:latin typeface="Arial"/>
              </a:rPr>
              <a:t>scan-period &amp; phase estimation from hits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8915399" y="2537460"/>
            <a:ext cx="192025" cy="0"/>
          </a:xfrm>
          <a:prstGeom prst="line">
            <a:avLst/>
          </a:prstGeom>
          <a:ln w="22225">
            <a:solidFill>
              <a:srgbClr val="1F3B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9134856" y="1828800"/>
            <a:ext cx="1243584" cy="141732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12700">
            <a:solidFill>
              <a:srgbClr val="1E8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Oval 17442"/>
          <p:cNvSpPr/>
          <p:nvPr/>
        </p:nvSpPr>
        <p:spPr>
          <a:xfrm>
            <a:off x="9582912" y="1645920"/>
            <a:ext cx="347472" cy="347472"/>
          </a:xfrm>
          <a:prstGeom prst="ellipse">
            <a:avLst/>
          </a:prstGeom>
          <a:solidFill>
            <a:srgbClr val="1E8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9180576" y="2029968"/>
            <a:ext cx="1152144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F3B6E"/>
                </a:solidFill>
                <a:latin typeface="Arial"/>
              </a:rPr>
              <a:t>ML scheduler</a:t>
            </a:r>
          </a:p>
          <a:p>
            <a:pPr algn="ctr"/>
            <a:r>
              <a:rPr sz="1000" b="0" i="0">
                <a:solidFill>
                  <a:srgbClr val="555F6D"/>
                </a:solidFill>
                <a:latin typeface="Arial"/>
              </a:rPr>
              <a:t>GRU forecast + Double-DQN policy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10405872" y="2537460"/>
            <a:ext cx="192024" cy="0"/>
          </a:xfrm>
          <a:prstGeom prst="line">
            <a:avLst/>
          </a:prstGeom>
          <a:ln w="22225">
            <a:solidFill>
              <a:srgbClr val="1F3B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Rounded Rectangle 17445"/>
          <p:cNvSpPr/>
          <p:nvPr/>
        </p:nvSpPr>
        <p:spPr>
          <a:xfrm>
            <a:off x="10625328" y="1828800"/>
            <a:ext cx="1243584" cy="141732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 w="12700">
            <a:solidFill>
              <a:srgbClr val="1F3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Oval 17446"/>
          <p:cNvSpPr/>
          <p:nvPr/>
        </p:nvSpPr>
        <p:spPr>
          <a:xfrm>
            <a:off x="11073384" y="1645920"/>
            <a:ext cx="347472" cy="347472"/>
          </a:xfrm>
          <a:prstGeom prst="ellipse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10671048" y="2029968"/>
            <a:ext cx="1152144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F3B6E"/>
                </a:solidFill>
                <a:latin typeface="Arial"/>
              </a:rPr>
              <a:t>Dwell decision</a:t>
            </a:r>
          </a:p>
          <a:p>
            <a:pPr algn="ctr"/>
            <a:r>
              <a:rPr sz="1000" b="0" i="0">
                <a:solidFill>
                  <a:srgbClr val="555F6D"/>
                </a:solidFill>
                <a:latin typeface="Arial"/>
              </a:rPr>
              <a:t>band to listen to next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11247120" y="3246120"/>
            <a:ext cx="0" cy="320040"/>
          </a:xfrm>
          <a:prstGeom prst="line">
            <a:avLst/>
          </a:prstGeom>
          <a:ln w="22225">
            <a:solidFill>
              <a:srgbClr val="E86A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0" name="Connector 17449"/>
          <p:cNvCxnSpPr/>
          <p:nvPr/>
        </p:nvCxnSpPr>
        <p:spPr>
          <a:xfrm flipH="1">
            <a:off x="8266175" y="3566160"/>
            <a:ext cx="2980945" cy="0"/>
          </a:xfrm>
          <a:prstGeom prst="line">
            <a:avLst/>
          </a:prstGeom>
          <a:ln w="22225">
            <a:solidFill>
              <a:srgbClr val="E86A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1" name="Connector 17450"/>
          <p:cNvCxnSpPr/>
          <p:nvPr/>
        </p:nvCxnSpPr>
        <p:spPr>
          <a:xfrm flipV="1">
            <a:off x="8266175" y="3264408"/>
            <a:ext cx="0" cy="301752"/>
          </a:xfrm>
          <a:prstGeom prst="line">
            <a:avLst/>
          </a:prstGeom>
          <a:ln w="22225">
            <a:solidFill>
              <a:srgbClr val="E86A1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TextBox 17451"/>
          <p:cNvSpPr txBox="1"/>
          <p:nvPr/>
        </p:nvSpPr>
        <p:spPr>
          <a:xfrm>
            <a:off x="7168895" y="3584448"/>
            <a:ext cx="5175504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1">
                <a:solidFill>
                  <a:srgbClr val="E86A10"/>
                </a:solidFill>
                <a:latin typeface="Arial"/>
              </a:rPr>
              <a:t>feedback: hit / miss / false alarm → reward &amp; learning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4663440" y="4160520"/>
            <a:ext cx="7086600" cy="60350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4773168" y="4160520"/>
            <a:ext cx="10515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8C45"/>
                </a:solidFill>
                <a:latin typeface="Arial"/>
              </a:rPr>
              <a:t>Train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5806440" y="4160520"/>
            <a:ext cx="58521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Arial"/>
              </a:rPr>
              <a:t>400 randomised laydowns (no prior intel); GRU learns from hit/miss streams; DQN trained on 250k dwells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4663440" y="4855464"/>
            <a:ext cx="7086600" cy="60350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7" name="TextBox 17456"/>
          <p:cNvSpPr txBox="1"/>
          <p:nvPr/>
        </p:nvSpPr>
        <p:spPr>
          <a:xfrm>
            <a:off x="4773168" y="4855464"/>
            <a:ext cx="10515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8C45"/>
                </a:solidFill>
                <a:latin typeface="Arial"/>
              </a:rPr>
              <a:t>Validate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5806440" y="4855464"/>
            <a:ext cx="58521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Arial"/>
              </a:rPr>
              <a:t>Benchmark vs round-robin, random sweep, bandit on 30 unseen scenarios + analytic intercept model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4663440" y="5550407"/>
            <a:ext cx="7086600" cy="60350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4773168" y="5550407"/>
            <a:ext cx="10515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E8C45"/>
                </a:solidFill>
                <a:latin typeface="Arial"/>
              </a:rPr>
              <a:t>Prototype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5806440" y="5550407"/>
            <a:ext cx="58521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Arial"/>
              </a:rPr>
              <a:t>Working web app: live band×time waterfall, A/B scheduler race, periodic-intercept designer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8" name="Google Shape;9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03911" y="81376"/>
            <a:ext cx="2246575" cy="114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sp>
        <p:nvSpPr>
          <p:cNvPr id="17410" name="Rounded Rectangle 17409"/>
          <p:cNvSpPr/>
          <p:nvPr/>
        </p:nvSpPr>
        <p:spPr>
          <a:xfrm>
            <a:off x="457200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640080" y="1216152"/>
            <a:ext cx="3337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E86A10"/>
                </a:solidFill>
                <a:latin typeface="Arial"/>
              </a:rPr>
              <a:t>1.3 ms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40080" y="1737360"/>
            <a:ext cx="3337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Arial"/>
              </a:rPr>
              <a:t>per scheduling decision vs a 10 ms dwell: real-time capable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74820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457700" y="1216152"/>
            <a:ext cx="3337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0070C0"/>
                </a:solidFill>
                <a:latin typeface="Arial"/>
              </a:rPr>
              <a:t>~40 min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457700" y="1737360"/>
            <a:ext cx="3337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Arial"/>
              </a:rPr>
              <a:t>total training on a laptop CPU: no special hardware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092440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8275319" y="1216152"/>
            <a:ext cx="3337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1E8C45"/>
                </a:solidFill>
                <a:latin typeface="Arial"/>
              </a:rPr>
              <a:t>End-to-end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275319" y="1737360"/>
            <a:ext cx="3337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Arial"/>
              </a:rPr>
              <a:t>prototype built, trained and benchmarked on 30 unseen scenarios</a:t>
            </a:r>
          </a:p>
        </p:txBody>
      </p:sp>
      <p:graphicFrame>
        <p:nvGraphicFramePr>
          <p:cNvPr id="17419" name="Table 17418"/>
          <p:cNvGraphicFramePr>
            <a:graphicFrameLocks noGrp="1"/>
          </p:cNvGraphicFramePr>
          <p:nvPr/>
        </p:nvGraphicFramePr>
        <p:xfrm>
          <a:off x="457200" y="2560320"/>
          <a:ext cx="112928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70866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Challenge / risk</a:t>
                      </a:r>
                    </a:p>
                  </a:txBody>
                  <a:tcPr marL="91440" marR="91440" marT="36576" marB="36576" anchor="ctr">
                    <a:solidFill>
                      <a:srgbClr val="1F3B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Strategy to overcome it</a:t>
                      </a:r>
                    </a:p>
                  </a:txBody>
                  <a:tcPr marL="91440" marR="91440" marT="36576" marB="36576" anchor="ctr">
                    <a:solidFill>
                      <a:srgbClr val="1F3B6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3B6E"/>
                          </a:solidFill>
                          <a:latin typeface="Arial"/>
                        </a:rPr>
                        <a:t>No prior intelligence of emitters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Train on thousands of randomised emitter laydowns (domain randomisation); learn online from hits and misses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3B6E"/>
                          </a:solidFill>
                          <a:latin typeface="Arial"/>
                        </a:rPr>
                        <a:t>Periodic-scan lock-out: a fixed sweep can miss a radar forever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Number-theoretic gcd / vernier rule picks the revisit period; randomised sweep order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3B6E"/>
                          </a:solidFill>
                          <a:latin typeface="Arial"/>
                        </a:rPr>
                        <a:t>Learned policy over-focuses on known emitters and misses new ones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Coverage shield: every band revisited within a bounded time (default 32 dwells)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3B6E"/>
                          </a:solidFill>
                          <a:latin typeface="Arial"/>
                        </a:rPr>
                        <a:t>Simulation-to-real gap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Physics-based receiver model (χ² detector); fine-tune on recorded field data; modular REST interface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3B6E"/>
                          </a:solidFill>
                          <a:latin typeface="Arial"/>
                        </a:rPr>
                        <a:t>Trust &amp; explainability in a military system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</a:rPr>
                        <a:t>Transparent model-based smart scan as fallback; analytic intercept predictions verified to within 12.8%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8" name="Google Shape;9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03911" y="81376"/>
            <a:ext cx="2246575" cy="114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sp>
        <p:nvSpPr>
          <p:cNvPr id="17410" name="Rounded Rectangle 17409"/>
          <p:cNvSpPr/>
          <p:nvPr/>
        </p:nvSpPr>
        <p:spPr>
          <a:xfrm>
            <a:off x="457200" y="1188720"/>
            <a:ext cx="269748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48640" y="1207008"/>
            <a:ext cx="25146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800" b="1" i="0">
                <a:solidFill>
                  <a:srgbClr val="E86A10"/>
                </a:solidFill>
                <a:latin typeface="Arial"/>
              </a:rPr>
              <a:t>+78%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764792"/>
            <a:ext cx="2514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222222"/>
                </a:solidFill>
                <a:latin typeface="Arial"/>
              </a:rPr>
              <a:t>interception ratio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322015" y="1188720"/>
            <a:ext cx="269748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3413455" y="1207008"/>
            <a:ext cx="25146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800" b="1" i="0">
                <a:solidFill>
                  <a:srgbClr val="E86A10"/>
                </a:solidFill>
                <a:latin typeface="Arial"/>
              </a:rPr>
              <a:t>+85%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413455" y="1764792"/>
            <a:ext cx="2514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222222"/>
                </a:solidFill>
                <a:latin typeface="Arial"/>
              </a:rPr>
              <a:t>threat-weighted interception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86830" y="1188720"/>
            <a:ext cx="269748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6278270" y="1207008"/>
            <a:ext cx="25146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800" b="1" i="0">
                <a:solidFill>
                  <a:srgbClr val="0070C0"/>
                </a:solidFill>
                <a:latin typeface="Arial"/>
              </a:rPr>
              <a:t>−15%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78270" y="1764792"/>
            <a:ext cx="2514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222222"/>
                </a:solidFill>
                <a:latin typeface="Arial"/>
              </a:rPr>
              <a:t>age of emitter information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9051645" y="1188720"/>
            <a:ext cx="269748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9143085" y="1207008"/>
            <a:ext cx="25146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800" b="1" i="0">
                <a:solidFill>
                  <a:srgbClr val="1E8C45"/>
                </a:solidFill>
                <a:latin typeface="Arial"/>
              </a:rPr>
              <a:t>81% → 0%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43085" y="1764792"/>
            <a:ext cx="2514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222222"/>
                </a:solidFill>
                <a:latin typeface="Arial"/>
              </a:rPr>
              <a:t>periodic lock-out removed</a:t>
            </a:r>
          </a:p>
        </p:txBody>
      </p:sp>
      <p:graphicFrame>
        <p:nvGraphicFramePr>
          <p:cNvPr id="17422" name="Chart 17421"/>
          <p:cNvGraphicFramePr>
            <a:graphicFrameLocks noGrp="1"/>
          </p:cNvGraphicFramePr>
          <p:nvPr/>
        </p:nvGraphicFramePr>
        <p:xfrm>
          <a:off x="457200" y="2514600"/>
          <a:ext cx="5577840" cy="3657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7423" name="TextBox 17422"/>
          <p:cNvSpPr txBox="1"/>
          <p:nvPr/>
        </p:nvSpPr>
        <p:spPr>
          <a:xfrm>
            <a:off x="6355080" y="251460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/>
              <a:buChar char="v"/>
            </a:pPr>
            <a:r>
              <a:rPr sz="2000" b="1" u="sng">
                <a:solidFill>
                  <a:srgbClr val="1F3B6E"/>
                </a:solidFill>
                <a:latin typeface="Arial"/>
              </a:rPr>
              <a:t>Target users &amp; benefits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446520" y="3063240"/>
            <a:ext cx="530352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spcAft>
                <a:spcPts val="700"/>
              </a:spcAft>
              <a:buFont typeface="Arial"/>
              <a:buChar char="•"/>
            </a:pPr>
            <a:r>
              <a:rPr sz="1300" b="1" i="0">
                <a:solidFill>
                  <a:srgbClr val="1F3B6E"/>
                </a:solidFill>
                <a:latin typeface="Arial"/>
              </a:rPr>
              <a:t>Users: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ES/ESM operators of the Army, Navy and Air Force; DRDO (DLRL) and BEL receiver programmes</a:t>
            </a:r>
          </a:p>
          <a:p>
            <a:pPr algn="l" marL="182880" indent="-182880">
              <a:spcAft>
                <a:spcPts val="700"/>
              </a:spcAft>
              <a:buFont typeface="Arial"/>
              <a:buChar char="•"/>
            </a:pPr>
            <a:r>
              <a:rPr sz="1300" b="1" i="0">
                <a:solidFill>
                  <a:srgbClr val="1F3B6E"/>
                </a:solidFill>
                <a:latin typeface="Arial"/>
              </a:rPr>
              <a:t>Operational: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earlier warning of pop-up fire-control and agile radars; better self-protection and SEAD</a:t>
            </a:r>
          </a:p>
          <a:p>
            <a:pPr algn="l" marL="182880" indent="-182880">
              <a:spcAft>
                <a:spcPts val="700"/>
              </a:spcAft>
              <a:buFont typeface="Arial"/>
              <a:buChar char="•"/>
            </a:pPr>
            <a:r>
              <a:rPr sz="1300" b="1" i="0">
                <a:solidFill>
                  <a:srgbClr val="1F3B6E"/>
                </a:solidFill>
                <a:latin typeface="Arial"/>
              </a:rPr>
              <a:t>Economic: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a pure software upgrade to existing swept receivers - no new hardware</a:t>
            </a:r>
          </a:p>
          <a:p>
            <a:pPr algn="l" marL="182880" indent="-182880">
              <a:spcAft>
                <a:spcPts val="700"/>
              </a:spcAft>
              <a:buFont typeface="Arial"/>
              <a:buChar char="•"/>
            </a:pPr>
            <a:r>
              <a:rPr sz="1300" b="1" i="0">
                <a:solidFill>
                  <a:srgbClr val="1F3B6E"/>
                </a:solidFill>
                <a:latin typeface="Arial"/>
              </a:rPr>
              <a:t>Strategic: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indigenous, Atmanirbhar EW capability that adapts without pre-mission intelligence</a:t>
            </a:r>
          </a:p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1F3B6E"/>
                </a:solidFill>
                <a:latin typeface="Arial"/>
              </a:rPr>
              <a:t>Dual-use: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spectrum monitoring, cognitive radio, SIGINT and interference hunting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8" name="Google Shape;9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03911" y="81376"/>
            <a:ext cx="2246575" cy="1149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sp>
        <p:nvSpPr>
          <p:cNvPr id="17410" name="TextBox 17409"/>
          <p:cNvSpPr txBox="1"/>
          <p:nvPr/>
        </p:nvSpPr>
        <p:spPr>
          <a:xfrm>
            <a:off x="320040" y="1143000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/>
              <a:buChar char="v"/>
            </a:pPr>
            <a:r>
              <a:rPr sz="2000" b="1" u="sng">
                <a:solidFill>
                  <a:srgbClr val="1F3B6E"/>
                </a:solidFill>
                <a:latin typeface="Arial"/>
              </a:rPr>
              <a:t>References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691640"/>
            <a:ext cx="5943600" cy="4526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B6E"/>
                </a:solidFill>
                <a:latin typeface="Arial"/>
              </a:rPr>
              <a:t>[1] 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R. G. Wiley, ELINT: The Interception and Analysis of Radar Signals, Artech House, 2006.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B6E"/>
                </a:solidFill>
                <a:latin typeface="Arial"/>
              </a:rPr>
              <a:t>[2] 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D. Adamy, EW 101: A First Course in Electronic Warfare, Artech House, 2001.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B6E"/>
                </a:solidFill>
                <a:latin typeface="Arial"/>
              </a:rPr>
              <a:t>[3] 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I. V. L. Clarkson, J. E. Perkins, I. M. Y. Mareels, “Number theoretic solutions to intercept time problems,” IEEE Trans. Information Theory, 1996.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B6E"/>
                </a:solidFill>
                <a:latin typeface="Arial"/>
              </a:rPr>
              <a:t>[4] 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A. G. Self, B. G. Smith, “Intercept time and its prediction,” IEE Proceedings F, 1985.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B6E"/>
                </a:solidFill>
                <a:latin typeface="Arial"/>
              </a:rPr>
              <a:t>[5] 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H. K. Mardia, “New techniques for the deinterleaving of repetitive sequences,” IEE Proceedings F, 1989.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B6E"/>
                </a:solidFill>
                <a:latin typeface="Arial"/>
              </a:rPr>
              <a:t>[6] 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H. Urkowitz, “Energy detection of unknown deterministic signals,” Proceedings of the IEEE, 1967.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B6E"/>
                </a:solidFill>
                <a:latin typeface="Arial"/>
              </a:rPr>
              <a:t>[7] 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V. Mnih et al., “Human-level control through deep reinforcement learning,” Nature, 2015.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B6E"/>
                </a:solidFill>
                <a:latin typeface="Arial"/>
              </a:rPr>
              <a:t>[8] 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H. van Hasselt, A. Guez, D. Silver, “Deep reinforcement learning with double Q-learning,” AAAI, 2016.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B6E"/>
                </a:solidFill>
                <a:latin typeface="Arial"/>
              </a:rPr>
              <a:t>[9] 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K. Cho et al., “Learning phrase representations using RNN encoder-decoder…,” EMNLP, 2014 (GRU).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B6E"/>
                </a:solidFill>
                <a:latin typeface="Arial"/>
              </a:rPr>
              <a:t>[10] 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O. Chapelle, L. Li, “An empirical evaluation of Thompson sampling,” NeurIPS, 2011.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629400" y="114300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/>
              <a:buChar char="v"/>
            </a:pPr>
            <a:r>
              <a:rPr sz="2000" b="1" u="sng">
                <a:solidFill>
                  <a:srgbClr val="1F3B6E"/>
                </a:solidFill>
                <a:latin typeface="Arial"/>
              </a:rPr>
              <a:t>Our research findings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720840" y="1691640"/>
            <a:ext cx="502920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00" b="1" i="0">
                <a:solidFill>
                  <a:srgbClr val="1F3B6E"/>
                </a:solidFill>
                <a:latin typeface="Arial"/>
              </a:rPr>
              <a:t>Lock-out: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a 16-band sweep never intercepts 81% of phase alignments of a 64-slot scanning radar; revisit period 19 guarantees intercept.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00" b="1" i="0">
                <a:solidFill>
                  <a:srgbClr val="1F3B6E"/>
                </a:solidFill>
                <a:latin typeface="Arial"/>
              </a:rPr>
              <a:t>Prediction model: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intercept time within 12.8% and interception ratio within 0.007 of Monte-Carlo simulation.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200" b="1" i="0">
                <a:solidFill>
                  <a:srgbClr val="1F3B6E"/>
                </a:solidFill>
                <a:latin typeface="Arial"/>
              </a:rPr>
              <a:t>Learning beats hand-crafting: </a:t>
            </a:r>
            <a:r>
              <a:rPr sz="1200" b="0" i="0">
                <a:solidFill>
                  <a:srgbClr val="222222"/>
                </a:solidFill>
                <a:latin typeface="Arial"/>
              </a:rPr>
              <a:t>GRU cuts intercept-time prediction error from 32.5 to 12.3 slots.</a:t>
            </a:r>
          </a:p>
        </p:txBody>
      </p:sp>
      <p:pic>
        <p:nvPicPr>
          <p:cNvPr id="17414" name="Picture 17413" descr="periodic_interce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429000"/>
            <a:ext cx="5257800" cy="2366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7485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2024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146</cp:revision>
  <dcterms:created xsi:type="dcterms:W3CDTF">2013-12-12T18:46:50Z</dcterms:created>
  <dcterms:modified xsi:type="dcterms:W3CDTF">2024-08-20T05:35:57Z</dcterms:modified>
  <cp:category/>
</cp:coreProperties>
</file>