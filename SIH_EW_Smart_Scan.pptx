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3B6E"/>
                </a:solidFill>
              </a:rPr>
              <a:t>Interception ratio: 30 unseen scenarios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Interception ratio</c:v>
                </c:pt>
              </c:strCache>
            </c:strRef>
          </c:tx>
          <c:dPt>
            <c:idx val="0"/>
            <c:spPr>
              <a:solidFill>
                <a:srgbClr val="C9791A"/>
              </a:solidFill>
            </c:spPr>
          </c:dPt>
          <c:dPt>
            <c:idx val="1"/>
            <c:spPr>
              <a:solidFill>
                <a:srgbClr val="A3ADBB"/>
              </a:solidFill>
            </c:spPr>
          </c:dPt>
          <c:dPt>
            <c:idx val="2"/>
            <c:spPr>
              <a:solidFill>
                <a:srgbClr val="8F9BB0"/>
              </a:solidFill>
            </c:spPr>
          </c:dPt>
          <c:dPt>
            <c:idx val="3"/>
            <c:spPr>
              <a:solidFill>
                <a:srgbClr val="2D7FE0"/>
              </a:solidFill>
            </c:spPr>
          </c:dPt>
          <c:dPt>
            <c:idx val="4"/>
            <c:spPr>
              <a:solidFill>
                <a:srgbClr val="5FB89B"/>
              </a:solidFill>
            </c:spPr>
          </c:dPt>
          <c:dPt>
            <c:idx val="5"/>
            <c:spPr>
              <a:solidFill>
                <a:srgbClr val="0B8F6E"/>
              </a:solidFill>
            </c:spPr>
          </c:dPt>
          <c:cat>
            <c:strRef>
              <c:f>Sheet1!$A$2:$A$7</c:f>
              <c:strCache>
                <c:ptCount val="6"/>
                <c:pt idx="0">
                  <c:v>Round-robin sweep</c:v>
                </c:pt>
                <c:pt idx="1">
                  <c:v>Random sweep</c:v>
                </c:pt>
                <c:pt idx="2">
                  <c:v>Bandit</c:v>
                </c:pt>
                <c:pt idx="3">
                  <c:v>Model-based</c:v>
                </c:pt>
                <c:pt idx="4">
                  <c:v>GRU predictor</c:v>
                </c:pt>
                <c:pt idx="5">
                  <c:v>RL (DQN)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0.221</c:v>
                </c:pt>
                <c:pt idx="1">
                  <c:v>0.213</c:v>
                </c:pt>
                <c:pt idx="2">
                  <c:v>0.178</c:v>
                </c:pt>
                <c:pt idx="3">
                  <c:v>0.317</c:v>
                </c:pt>
                <c:pt idx="4">
                  <c:v>0.358</c:v>
                </c:pt>
                <c:pt idx="5">
                  <c:v>0.394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2222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3E3"/>
            </a:solidFill>
          </a:ln>
        </c:spPr>
        <c:txPr>
          <a:bodyPr/>
          <a:lstStyle/>
          <a:p>
            <a:pPr>
              <a:defRPr sz="1100">
                <a:solidFill>
                  <a:srgbClr val="2222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576072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z="2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SCAN STRATEGY FOR ELECTRONIC WARFARE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Out of Bounds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 r="57500"/>
          <a:stretch/>
        </p:blipFill>
        <p:spPr>
          <a:xfrm>
            <a:off x="9803911" y="81376"/>
            <a:ext cx="954794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/>
          <p:cNvSpPr txBox="1"/>
          <p:nvPr/>
        </p:nvSpPr>
        <p:spPr>
          <a:xfrm>
            <a:off x="10776992" y="200248"/>
            <a:ext cx="128016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SMART INDIA</a:t>
            </a:r>
          </a:p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HACKATHON</a:t>
            </a:r>
          </a:p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SMART SCAN: AI-Driven ES Receiver Scheduler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 of Bounds</a:t>
            </a:r>
            <a:endParaRPr lang="en-IN" dirty="0"/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 r="57500"/>
          <a:stretch/>
        </p:blipFill>
        <p:spPr>
          <a:xfrm>
            <a:off x="9803911" y="81376"/>
            <a:ext cx="954794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62" name="TextBox 15361"/>
          <p:cNvSpPr txBox="1"/>
          <p:nvPr/>
        </p:nvSpPr>
        <p:spPr>
          <a:xfrm>
            <a:off x="320040" y="118872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sz="2400" b="1" u="sng">
                <a:solidFill>
                  <a:srgbClr val="1F3B6E"/>
                </a:solidFill>
                <a:latin typeface="Arial"/>
              </a:rPr>
              <a:t>Proposed Solution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57200" y="1737360"/>
            <a:ext cx="1124712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1">
                <a:solidFill>
                  <a:srgbClr val="555F6D"/>
                </a:solidFill>
                <a:latin typeface="Arial"/>
              </a:rPr>
              <a:t>A software “brain” for a swept Electronic Support (ES) receiver that decides, every 10 ms dwell, which frequency band to listen to next - learning from its own hits and misses, with no prior intelligence of emitters.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57200" y="242316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Oval 15364"/>
          <p:cNvSpPr/>
          <p:nvPr/>
        </p:nvSpPr>
        <p:spPr>
          <a:xfrm>
            <a:off x="640080" y="2587752"/>
            <a:ext cx="384048" cy="384048"/>
          </a:xfrm>
          <a:prstGeom prst="ellipse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1115568" y="2578608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1F3B6E"/>
                </a:solidFill>
                <a:latin typeface="Arial"/>
              </a:rPr>
              <a:t>What we built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21792" y="3081528"/>
            <a:ext cx="3337560" cy="2331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RF environment simulator: radars, frequency-agile emitters, comms, pop-up threats, with ground truth per band per slot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Receiver model: noise floor, Pd / Pfa, sensitivity (-72 dBm)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ML scheduler: GRU activity predictor + Deep RL (Double-DQN)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Web dashboard with simple and annotated views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4274820" y="242316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9" name="Oval 15368"/>
          <p:cNvSpPr/>
          <p:nvPr/>
        </p:nvSpPr>
        <p:spPr>
          <a:xfrm>
            <a:off x="4457700" y="2587752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933188" y="2578608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1F3B6E"/>
                </a:solidFill>
                <a:latin typeface="Arial"/>
              </a:rPr>
              <a:t>How it solves the problem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4439412" y="3081528"/>
            <a:ext cx="3337560" cy="2331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Replaces the open-loop, pre-planned sweep with a closed-loop scan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Learns scan periods and hop patterns online, then revisits exactly when a beam illuminates us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Coverage shield keeps sweeping for new / pop-up threats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Predicts intercept time and interception ratio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8092440" y="242316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3" name="Oval 15372"/>
          <p:cNvSpPr/>
          <p:nvPr/>
        </p:nvSpPr>
        <p:spPr>
          <a:xfrm>
            <a:off x="8275319" y="2587752"/>
            <a:ext cx="384048" cy="384048"/>
          </a:xfrm>
          <a:prstGeom prst="ellipse">
            <a:avLst/>
          </a:prstGeom>
          <a:solidFill>
            <a:srgbClr val="1E8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8750808" y="2578608"/>
            <a:ext cx="283464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 i="0">
                <a:solidFill>
                  <a:srgbClr val="1F3B6E"/>
                </a:solidFill>
                <a:latin typeface="Arial"/>
              </a:rPr>
              <a:t>Innovation &amp; uniqueness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8257031" y="3081528"/>
            <a:ext cx="3337560" cy="2331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Zero prior intelligence: trained on thousands of randomised emitter laydowns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Residual learning: the neural net corrects a physics-based phase model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gcd / vernier rule removes periodic-scan lock-out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</a:rPr>
              <a:t>RL with a safety shield plus an explainable model-based fallback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457200" y="5605272"/>
            <a:ext cx="11292840" cy="566928"/>
          </a:xfrm>
          <a:prstGeom prst="roundRect">
            <a:avLst>
              <a:gd name="adj" fmla="val 8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7" name="TextBox 15376"/>
          <p:cNvSpPr txBox="1"/>
          <p:nvPr/>
        </p:nvSpPr>
        <p:spPr>
          <a:xfrm>
            <a:off x="594360" y="5605272"/>
            <a:ext cx="1106424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 i="0">
                <a:solidFill>
                  <a:srgbClr val="1F3B6E"/>
                </a:solidFill>
                <a:latin typeface="Arial"/>
              </a:rPr>
              <a:t>Prototype result on 30 unseen scenarios:  </a:t>
            </a:r>
            <a:r>
              <a:rPr sz="1300" b="0" i="0">
                <a:solidFill>
                  <a:srgbClr val="222222"/>
                </a:solidFill>
                <a:latin typeface="Arial"/>
              </a:rPr>
              <a:t>+78% interception ratio  |  +85% threat-weighted  |  15% fresher emitter picture vs conventional sweep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10776992" y="200248"/>
            <a:ext cx="128016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SMART INDIA</a:t>
            </a:r>
          </a:p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HACKATHON</a:t>
            </a:r>
          </a:p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 r="57500"/>
          <a:stretch/>
        </p:blipFill>
        <p:spPr>
          <a:xfrm>
            <a:off x="9803911" y="81376"/>
            <a:ext cx="954794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 of Bounds</a:t>
            </a:r>
            <a:endParaRPr lang="en-IN" dirty="0"/>
          </a:p>
        </p:txBody>
      </p:sp>
      <p:sp>
        <p:nvSpPr>
          <p:cNvPr id="17410" name="TextBox 17409"/>
          <p:cNvSpPr txBox="1"/>
          <p:nvPr/>
        </p:nvSpPr>
        <p:spPr>
          <a:xfrm>
            <a:off x="320040" y="11430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sz="2000" b="1" u="sng">
                <a:solidFill>
                  <a:srgbClr val="1F3B6E"/>
                </a:solidFill>
                <a:latin typeface="Arial"/>
              </a:rPr>
              <a:t>Technologies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617720" y="114300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sz="2000" b="1" u="sng">
                <a:solidFill>
                  <a:srgbClr val="1F3B6E"/>
                </a:solidFill>
                <a:latin typeface="Arial"/>
              </a:rPr>
              <a:t>Methodology &amp; implementation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663440" y="1828800"/>
            <a:ext cx="1243584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E86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Oval 17430"/>
          <p:cNvSpPr/>
          <p:nvPr/>
        </p:nvSpPr>
        <p:spPr>
          <a:xfrm>
            <a:off x="5111495" y="1645920"/>
            <a:ext cx="347472" cy="347472"/>
          </a:xfrm>
          <a:prstGeom prst="ellipse">
            <a:avLst/>
          </a:prstGeom>
          <a:solidFill>
            <a:srgbClr val="E86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709159" y="2029968"/>
            <a:ext cx="1152144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F3B6E"/>
                </a:solidFill>
                <a:latin typeface="Arial"/>
              </a:rPr>
              <a:t>RF environment simulator</a:t>
            </a:r>
          </a:p>
          <a:p>
            <a:pPr algn="ctr"/>
            <a:r>
              <a:rPr sz="1000" b="0" i="0">
                <a:solidFill>
                  <a:srgbClr val="555F6D"/>
                </a:solidFill>
                <a:latin typeface="Arial"/>
              </a:rPr>
              <a:t>emitters + ground truth per band / slot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5934456" y="2537460"/>
            <a:ext cx="192024" cy="0"/>
          </a:xfrm>
          <a:prstGeom prst="line">
            <a:avLst/>
          </a:prstGeom>
          <a:ln w="22225">
            <a:solidFill>
              <a:srgbClr val="1F3B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Rounded Rectangle 17433"/>
          <p:cNvSpPr/>
          <p:nvPr/>
        </p:nvSpPr>
        <p:spPr>
          <a:xfrm>
            <a:off x="6153912" y="1828800"/>
            <a:ext cx="1243584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Oval 17434"/>
          <p:cNvSpPr/>
          <p:nvPr/>
        </p:nvSpPr>
        <p:spPr>
          <a:xfrm>
            <a:off x="6601967" y="1645920"/>
            <a:ext cx="347472" cy="34747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199631" y="2029968"/>
            <a:ext cx="1152144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F3B6E"/>
                </a:solidFill>
                <a:latin typeface="Arial"/>
              </a:rPr>
              <a:t>Receiver model</a:t>
            </a:r>
          </a:p>
          <a:p>
            <a:pPr algn="ctr"/>
            <a:r>
              <a:rPr sz="1000" b="0" i="0">
                <a:solidFill>
                  <a:srgbClr val="555F6D"/>
                </a:solidFill>
                <a:latin typeface="Arial"/>
              </a:rPr>
              <a:t>Pd, Pfa, sensitivity, 1 band per 10 ms dwell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7424927" y="2537460"/>
            <a:ext cx="192025" cy="0"/>
          </a:xfrm>
          <a:prstGeom prst="line">
            <a:avLst/>
          </a:prstGeom>
          <a:ln w="22225">
            <a:solidFill>
              <a:srgbClr val="1F3B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Rounded Rectangle 17437"/>
          <p:cNvSpPr/>
          <p:nvPr/>
        </p:nvSpPr>
        <p:spPr>
          <a:xfrm>
            <a:off x="7644383" y="1828800"/>
            <a:ext cx="1243584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Oval 17438"/>
          <p:cNvSpPr/>
          <p:nvPr/>
        </p:nvSpPr>
        <p:spPr>
          <a:xfrm>
            <a:off x="8092440" y="1645920"/>
            <a:ext cx="347472" cy="34747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7690104" y="2029968"/>
            <a:ext cx="1152144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F3B6E"/>
                </a:solidFill>
                <a:latin typeface="Arial"/>
              </a:rPr>
              <a:t>Observation tracker</a:t>
            </a:r>
          </a:p>
          <a:p>
            <a:pPr algn="ctr"/>
            <a:r>
              <a:rPr sz="1000" b="0" i="0">
                <a:solidFill>
                  <a:srgbClr val="555F6D"/>
                </a:solidFill>
                <a:latin typeface="Arial"/>
              </a:rPr>
              <a:t>scan-period &amp; phase estimation from hits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8915399" y="2537460"/>
            <a:ext cx="192025" cy="0"/>
          </a:xfrm>
          <a:prstGeom prst="line">
            <a:avLst/>
          </a:prstGeom>
          <a:ln w="22225">
            <a:solidFill>
              <a:srgbClr val="1F3B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Rounded Rectangle 17441"/>
          <p:cNvSpPr/>
          <p:nvPr/>
        </p:nvSpPr>
        <p:spPr>
          <a:xfrm>
            <a:off x="9134856" y="1828800"/>
            <a:ext cx="1243584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1E8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Oval 17442"/>
          <p:cNvSpPr/>
          <p:nvPr/>
        </p:nvSpPr>
        <p:spPr>
          <a:xfrm>
            <a:off x="9582912" y="1645920"/>
            <a:ext cx="347472" cy="347472"/>
          </a:xfrm>
          <a:prstGeom prst="ellipse">
            <a:avLst/>
          </a:prstGeom>
          <a:solidFill>
            <a:srgbClr val="1E8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9180576" y="2029968"/>
            <a:ext cx="1152144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F3B6E"/>
                </a:solidFill>
                <a:latin typeface="Arial"/>
              </a:rPr>
              <a:t>ML scheduler</a:t>
            </a:r>
          </a:p>
          <a:p>
            <a:pPr algn="ctr"/>
            <a:r>
              <a:rPr sz="1000" b="0" i="0">
                <a:solidFill>
                  <a:srgbClr val="555F6D"/>
                </a:solidFill>
                <a:latin typeface="Arial"/>
              </a:rPr>
              <a:t>GRU forecast + Double-DQN policy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10405872" y="2537460"/>
            <a:ext cx="192024" cy="0"/>
          </a:xfrm>
          <a:prstGeom prst="line">
            <a:avLst/>
          </a:prstGeom>
          <a:ln w="22225">
            <a:solidFill>
              <a:srgbClr val="1F3B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6" name="Rounded Rectangle 17445"/>
          <p:cNvSpPr/>
          <p:nvPr/>
        </p:nvSpPr>
        <p:spPr>
          <a:xfrm>
            <a:off x="10625328" y="1828800"/>
            <a:ext cx="1243584" cy="141732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7" name="Oval 17446"/>
          <p:cNvSpPr/>
          <p:nvPr/>
        </p:nvSpPr>
        <p:spPr>
          <a:xfrm>
            <a:off x="11073384" y="1645920"/>
            <a:ext cx="347472" cy="347472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10671048" y="2029968"/>
            <a:ext cx="1152144" cy="11704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F3B6E"/>
                </a:solidFill>
                <a:latin typeface="Arial"/>
              </a:rPr>
              <a:t>Dwell decision</a:t>
            </a:r>
          </a:p>
          <a:p>
            <a:pPr algn="ctr"/>
            <a:r>
              <a:rPr sz="1000" b="0" i="0">
                <a:solidFill>
                  <a:srgbClr val="555F6D"/>
                </a:solidFill>
                <a:latin typeface="Arial"/>
              </a:rPr>
              <a:t>band to listen to next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11247120" y="3246120"/>
            <a:ext cx="0" cy="320040"/>
          </a:xfrm>
          <a:prstGeom prst="line">
            <a:avLst/>
          </a:prstGeom>
          <a:ln w="22225">
            <a:solidFill>
              <a:srgbClr val="E86A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0" name="Connector 17449"/>
          <p:cNvCxnSpPr/>
          <p:nvPr/>
        </p:nvCxnSpPr>
        <p:spPr>
          <a:xfrm flipH="1">
            <a:off x="8266175" y="3566160"/>
            <a:ext cx="2980945" cy="0"/>
          </a:xfrm>
          <a:prstGeom prst="line">
            <a:avLst/>
          </a:prstGeom>
          <a:ln w="22225">
            <a:solidFill>
              <a:srgbClr val="E86A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1" name="Connector 17450"/>
          <p:cNvCxnSpPr/>
          <p:nvPr/>
        </p:nvCxnSpPr>
        <p:spPr>
          <a:xfrm flipV="1">
            <a:off x="8266175" y="3264408"/>
            <a:ext cx="0" cy="301752"/>
          </a:xfrm>
          <a:prstGeom prst="line">
            <a:avLst/>
          </a:prstGeom>
          <a:ln w="22225">
            <a:solidFill>
              <a:srgbClr val="E86A1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TextBox 17451"/>
          <p:cNvSpPr txBox="1"/>
          <p:nvPr/>
        </p:nvSpPr>
        <p:spPr>
          <a:xfrm>
            <a:off x="7168895" y="3584448"/>
            <a:ext cx="5175504" cy="29260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 i="1">
                <a:solidFill>
                  <a:srgbClr val="E86A10"/>
                </a:solidFill>
                <a:latin typeface="Arial"/>
              </a:rPr>
              <a:t>feedback: hit / miss / false alarm → reward &amp; learning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4663440" y="4114800"/>
            <a:ext cx="3017520" cy="65836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4736592" y="4133087"/>
            <a:ext cx="28803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1E8C45"/>
                </a:solidFill>
                <a:latin typeface="Arial"/>
              </a:rPr>
              <a:t>Train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Arial"/>
              </a:rPr>
              <a:t>400 random battlefields, no prior intel; DQN trained on 250k dwells</a:t>
            </a:r>
          </a:p>
        </p:txBody>
      </p:sp>
      <p:sp>
        <p:nvSpPr>
          <p:cNvPr id="17455" name="Rounded Rectangle 17454"/>
          <p:cNvSpPr/>
          <p:nvPr/>
        </p:nvSpPr>
        <p:spPr>
          <a:xfrm>
            <a:off x="4663440" y="4828032"/>
            <a:ext cx="3017520" cy="65836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4736592" y="4846320"/>
            <a:ext cx="28803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1E8C45"/>
                </a:solidFill>
                <a:latin typeface="Arial"/>
              </a:rPr>
              <a:t>Validate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Arial"/>
              </a:rPr>
              <a:t>30 unseen scenarios vs round-robin, random sweep and bandit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4663440" y="5541264"/>
            <a:ext cx="3017520" cy="65836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4736592" y="5559552"/>
            <a:ext cx="28803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1">
                <a:solidFill>
                  <a:srgbClr val="1E8C45"/>
                </a:solidFill>
                <a:latin typeface="Arial"/>
              </a:rPr>
              <a:t>Prototype</a:t>
            </a:r>
          </a:p>
          <a:p>
            <a:pPr algn="l"/>
            <a:r>
              <a:rPr sz="950" b="0">
                <a:solidFill>
                  <a:srgbClr val="222222"/>
                </a:solidFill>
                <a:latin typeface="Arial"/>
              </a:rPr>
              <a:t>Working web app (right): live race, annotated graphs, lock-out designer</a:t>
            </a:r>
          </a:p>
        </p:txBody>
      </p:sp>
      <p:pic>
        <p:nvPicPr>
          <p:cNvPr id="17459" name="Picture 17458" descr="graphA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133087"/>
            <a:ext cx="3977639" cy="1389795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7460" name="TextBox 17459"/>
          <p:cNvSpPr txBox="1"/>
          <p:nvPr/>
        </p:nvSpPr>
        <p:spPr>
          <a:xfrm>
            <a:off x="7772400" y="5559459"/>
            <a:ext cx="397763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50" b="1">
                <a:solidFill>
                  <a:srgbClr val="1F3B6E"/>
                </a:solidFill>
                <a:latin typeface="Arial"/>
              </a:rPr>
              <a:t>Live dashboard: </a:t>
            </a:r>
            <a:r>
              <a:rPr sz="950" b="0">
                <a:solidFill>
                  <a:srgbClr val="555F6D"/>
                </a:solidFill>
                <a:latin typeface="Arial"/>
              </a:rPr>
              <a:t>fixed sweep shown as a staircase, with a real catch and a real miss called out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10776992" y="200248"/>
            <a:ext cx="128016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SMART INDIA</a:t>
            </a:r>
          </a:p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HACKATHON</a:t>
            </a:r>
          </a:p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2026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457200" y="1737360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548640" y="1737360"/>
            <a:ext cx="10972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50" b="1">
                <a:solidFill>
                  <a:srgbClr val="1F3B6E"/>
                </a:solidFill>
                <a:latin typeface="Arial"/>
              </a:rPr>
              <a:t>Language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1600200" y="1737360"/>
            <a:ext cx="182880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Arial"/>
              </a:rPr>
              <a:t>Python 3.11, JavaScript</a:t>
            </a:r>
          </a:p>
        </p:txBody>
      </p:sp>
      <p:pic>
        <p:nvPicPr>
          <p:cNvPr id="17465" name="Picture 17464" descr="javascript-orig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1837943"/>
            <a:ext cx="365760" cy="365760"/>
          </a:xfrm>
          <a:prstGeom prst="rect">
            <a:avLst/>
          </a:prstGeom>
        </p:spPr>
      </p:pic>
      <p:pic>
        <p:nvPicPr>
          <p:cNvPr id="17466" name="Picture 17465" descr="python-origin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7629" y="1837943"/>
            <a:ext cx="329699" cy="365760"/>
          </a:xfrm>
          <a:prstGeom prst="rect">
            <a:avLst/>
          </a:prstGeom>
        </p:spPr>
      </p:pic>
      <p:sp>
        <p:nvSpPr>
          <p:cNvPr id="17467" name="Rounded Rectangle 17466"/>
          <p:cNvSpPr/>
          <p:nvPr/>
        </p:nvSpPr>
        <p:spPr>
          <a:xfrm>
            <a:off x="457200" y="2395728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548640" y="2395728"/>
            <a:ext cx="10972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50" b="1">
                <a:solidFill>
                  <a:srgbClr val="1F3B6E"/>
                </a:solidFill>
                <a:latin typeface="Arial"/>
              </a:rPr>
              <a:t>AI / ML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1600200" y="2395728"/>
            <a:ext cx="182880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Arial"/>
              </a:rPr>
              <a:t>PyTorch: GRU predictor, Double-DQN</a:t>
            </a:r>
          </a:p>
        </p:txBody>
      </p:sp>
      <p:pic>
        <p:nvPicPr>
          <p:cNvPr id="17470" name="Picture 17469" descr="pytorch-origin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2697" y="2496312"/>
            <a:ext cx="303543" cy="365760"/>
          </a:xfrm>
          <a:prstGeom prst="rect">
            <a:avLst/>
          </a:prstGeom>
        </p:spPr>
      </p:pic>
      <p:sp>
        <p:nvSpPr>
          <p:cNvPr id="17471" name="Rounded Rectangle 17470"/>
          <p:cNvSpPr/>
          <p:nvPr/>
        </p:nvSpPr>
        <p:spPr>
          <a:xfrm>
            <a:off x="457200" y="3054096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TextBox 17471"/>
          <p:cNvSpPr txBox="1"/>
          <p:nvPr/>
        </p:nvSpPr>
        <p:spPr>
          <a:xfrm>
            <a:off x="548640" y="3054096"/>
            <a:ext cx="10972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50" b="1">
                <a:solidFill>
                  <a:srgbClr val="1F3B6E"/>
                </a:solidFill>
                <a:latin typeface="Arial"/>
              </a:rPr>
              <a:t>Signal model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1600200" y="3054096"/>
            <a:ext cx="182880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Arial"/>
              </a:rPr>
              <a:t>NumPy, SciPy (energy detector)</a:t>
            </a:r>
          </a:p>
        </p:txBody>
      </p:sp>
      <p:pic>
        <p:nvPicPr>
          <p:cNvPr id="17474" name="Picture 17473" descr="scip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7134" y="3154679"/>
            <a:ext cx="389106" cy="365760"/>
          </a:xfrm>
          <a:prstGeom prst="rect">
            <a:avLst/>
          </a:prstGeom>
        </p:spPr>
      </p:pic>
      <p:pic>
        <p:nvPicPr>
          <p:cNvPr id="17475" name="Picture 17474" descr="numpy-origin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0168" y="3154679"/>
            <a:ext cx="343814" cy="365760"/>
          </a:xfrm>
          <a:prstGeom prst="rect">
            <a:avLst/>
          </a:prstGeom>
        </p:spPr>
      </p:pic>
      <p:sp>
        <p:nvSpPr>
          <p:cNvPr id="17476" name="Rounded Rectangle 17475"/>
          <p:cNvSpPr/>
          <p:nvPr/>
        </p:nvSpPr>
        <p:spPr>
          <a:xfrm>
            <a:off x="457200" y="3712463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7" name="TextBox 17476"/>
          <p:cNvSpPr txBox="1"/>
          <p:nvPr/>
        </p:nvSpPr>
        <p:spPr>
          <a:xfrm>
            <a:off x="548640" y="3712463"/>
            <a:ext cx="10972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50" b="1">
                <a:solidFill>
                  <a:srgbClr val="1F3B6E"/>
                </a:solidFill>
                <a:latin typeface="Arial"/>
              </a:rPr>
              <a:t>Backend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1600200" y="3712463"/>
            <a:ext cx="182880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Arial"/>
              </a:rPr>
              <a:t>FastAPI (REST API)</a:t>
            </a:r>
          </a:p>
        </p:txBody>
      </p:sp>
      <p:pic>
        <p:nvPicPr>
          <p:cNvPr id="17479" name="Picture 17478" descr="fastapi-orig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480" y="3813048"/>
            <a:ext cx="365760" cy="365760"/>
          </a:xfrm>
          <a:prstGeom prst="rect">
            <a:avLst/>
          </a:prstGeom>
        </p:spPr>
      </p:pic>
      <p:sp>
        <p:nvSpPr>
          <p:cNvPr id="17480" name="Rounded Rectangle 17479"/>
          <p:cNvSpPr/>
          <p:nvPr/>
        </p:nvSpPr>
        <p:spPr>
          <a:xfrm>
            <a:off x="457200" y="4370831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1" name="TextBox 17480"/>
          <p:cNvSpPr txBox="1"/>
          <p:nvPr/>
        </p:nvSpPr>
        <p:spPr>
          <a:xfrm>
            <a:off x="548640" y="4370831"/>
            <a:ext cx="10972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50" b="1">
                <a:solidFill>
                  <a:srgbClr val="1F3B6E"/>
                </a:solidFill>
                <a:latin typeface="Arial"/>
              </a:rPr>
              <a:t>Frontend</a:t>
            </a:r>
          </a:p>
        </p:txBody>
      </p:sp>
      <p:sp>
        <p:nvSpPr>
          <p:cNvPr id="17482" name="TextBox 17481"/>
          <p:cNvSpPr txBox="1"/>
          <p:nvPr/>
        </p:nvSpPr>
        <p:spPr>
          <a:xfrm>
            <a:off x="1600200" y="4370831"/>
            <a:ext cx="182880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Arial"/>
              </a:rPr>
              <a:t>HTML5 + Chart.js dashboard</a:t>
            </a:r>
          </a:p>
        </p:txBody>
      </p:sp>
      <p:pic>
        <p:nvPicPr>
          <p:cNvPr id="17483" name="Picture 17482" descr="chartdotj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8029" y="4471416"/>
            <a:ext cx="318211" cy="365760"/>
          </a:xfrm>
          <a:prstGeom prst="rect">
            <a:avLst/>
          </a:prstGeom>
        </p:spPr>
      </p:pic>
      <p:pic>
        <p:nvPicPr>
          <p:cNvPr id="17484" name="Picture 17483" descr="html5-origin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92257" y="4471416"/>
            <a:ext cx="322619" cy="365760"/>
          </a:xfrm>
          <a:prstGeom prst="rect">
            <a:avLst/>
          </a:prstGeom>
        </p:spPr>
      </p:pic>
      <p:sp>
        <p:nvSpPr>
          <p:cNvPr id="17485" name="Rounded Rectangle 17484"/>
          <p:cNvSpPr/>
          <p:nvPr/>
        </p:nvSpPr>
        <p:spPr>
          <a:xfrm>
            <a:off x="457200" y="5029199"/>
            <a:ext cx="3840480" cy="5669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6" name="TextBox 17485"/>
          <p:cNvSpPr txBox="1"/>
          <p:nvPr/>
        </p:nvSpPr>
        <p:spPr>
          <a:xfrm>
            <a:off x="548640" y="5029199"/>
            <a:ext cx="109728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50" b="1">
                <a:solidFill>
                  <a:srgbClr val="1F3B6E"/>
                </a:solidFill>
                <a:latin typeface="Arial"/>
              </a:rPr>
              <a:t>Hardware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1600200" y="5029199"/>
            <a:ext cx="2651760" cy="566928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Arial"/>
              </a:rPr>
              <a:t>Runs on a laptop CPU, no GPU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 r="57500"/>
          <a:stretch/>
        </p:blipFill>
        <p:spPr>
          <a:xfrm>
            <a:off x="9803911" y="81376"/>
            <a:ext cx="954794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 of Bounds</a:t>
            </a:r>
            <a:endParaRPr lang="en-IN" dirty="0"/>
          </a:p>
        </p:txBody>
      </p:sp>
      <p:sp>
        <p:nvSpPr>
          <p:cNvPr id="17410" name="Rounded Rectangle 17409"/>
          <p:cNvSpPr/>
          <p:nvPr/>
        </p:nvSpPr>
        <p:spPr>
          <a:xfrm>
            <a:off x="457200" y="118872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640080" y="1216152"/>
            <a:ext cx="33375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E86A10"/>
                </a:solidFill>
                <a:latin typeface="Arial"/>
              </a:rPr>
              <a:t>1.3 ms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40080" y="173736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Arial"/>
              </a:rPr>
              <a:t>per scheduling decision vs a 10 ms dwell: real-time capable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74820" y="118872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4457700" y="1216152"/>
            <a:ext cx="33375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0070C0"/>
                </a:solidFill>
                <a:latin typeface="Arial"/>
              </a:rPr>
              <a:t>~40 min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457700" y="173736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Arial"/>
              </a:rPr>
              <a:t>total training on a laptop CPU: no special hardware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092440" y="1188720"/>
            <a:ext cx="3611880" cy="114300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8275319" y="1216152"/>
            <a:ext cx="333756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E8C45"/>
                </a:solidFill>
                <a:latin typeface="Arial"/>
              </a:rPr>
              <a:t>End-to-end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275319" y="173736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Arial"/>
              </a:rPr>
              <a:t>prototype built, trained and benchmarked on 30 unseen scenarios</a:t>
            </a:r>
          </a:p>
        </p:txBody>
      </p:sp>
      <p:graphicFrame>
        <p:nvGraphicFramePr>
          <p:cNvPr id="17419" name="Table 17418"/>
          <p:cNvGraphicFramePr>
            <a:graphicFrameLocks noGrp="1"/>
          </p:cNvGraphicFramePr>
          <p:nvPr/>
        </p:nvGraphicFramePr>
        <p:xfrm>
          <a:off x="457200" y="2560320"/>
          <a:ext cx="112928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70866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Challenge / risk</a:t>
                      </a:r>
                    </a:p>
                  </a:txBody>
                  <a:tcPr marL="91440" marR="91440" marT="36576" marB="36576" anchor="ctr">
                    <a:solidFill>
                      <a:srgbClr val="1F3B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Strategy to overcome it</a:t>
                      </a:r>
                    </a:p>
                  </a:txBody>
                  <a:tcPr marL="91440" marR="91440" marT="36576" marB="36576" anchor="ctr">
                    <a:solidFill>
                      <a:srgbClr val="1F3B6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3B6E"/>
                          </a:solidFill>
                          <a:latin typeface="Arial"/>
                        </a:rPr>
                        <a:t>No prior intelligence of emitters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Train on thousands of randomised emitter laydowns (domain randomisation); learn online from hits and misses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3B6E"/>
                          </a:solidFill>
                          <a:latin typeface="Arial"/>
                        </a:rPr>
                        <a:t>Periodic-scan lock-out: a fixed sweep can miss a radar forever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Number-theoretic gcd / vernier rule picks the revisit period; randomised sweep order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3B6E"/>
                          </a:solidFill>
                          <a:latin typeface="Arial"/>
                        </a:rPr>
                        <a:t>Learned policy over-focuses on known emitters and misses new ones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Coverage shield: every band revisited within a bounded time (default 32 dwells)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3B6E"/>
                          </a:solidFill>
                          <a:latin typeface="Arial"/>
                        </a:rPr>
                        <a:t>Simulation-to-real gap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Physics-based receiver model (χ² detector); fine-tune on recorded field data; modular REST interface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3B6E"/>
                          </a:solidFill>
                          <a:latin typeface="Arial"/>
                        </a:rPr>
                        <a:t>Trust &amp; explainability in a military system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Transparent model-based smart scan as fallback; analytic intercept predictions verified to within 12.8%</a:t>
                      </a:r>
                    </a:p>
                  </a:txBody>
                  <a:tcPr marL="91440" marR="91440" marT="36576" marB="36576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7420" name="TextBox 17419"/>
          <p:cNvSpPr txBox="1"/>
          <p:nvPr/>
        </p:nvSpPr>
        <p:spPr>
          <a:xfrm>
            <a:off x="10776992" y="200248"/>
            <a:ext cx="128016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SMART INDIA</a:t>
            </a:r>
          </a:p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HACKATHON</a:t>
            </a:r>
          </a:p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 r="57500"/>
          <a:stretch/>
        </p:blipFill>
        <p:spPr>
          <a:xfrm>
            <a:off x="9803911" y="81376"/>
            <a:ext cx="954794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 of Bounds</a:t>
            </a:r>
            <a:endParaRPr lang="en-IN" dirty="0"/>
          </a:p>
        </p:txBody>
      </p:sp>
      <p:sp>
        <p:nvSpPr>
          <p:cNvPr id="17410" name="Rounded Rectangle 17409"/>
          <p:cNvSpPr/>
          <p:nvPr/>
        </p:nvSpPr>
        <p:spPr>
          <a:xfrm>
            <a:off x="457200" y="118872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48640" y="1207008"/>
            <a:ext cx="25146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800" b="1" i="0">
                <a:solidFill>
                  <a:srgbClr val="E86A10"/>
                </a:solidFill>
                <a:latin typeface="Arial"/>
              </a:rPr>
              <a:t>+78%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48640" y="1764792"/>
            <a:ext cx="2514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Arial"/>
              </a:rPr>
              <a:t>interception ratio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322015" y="118872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3413455" y="1207008"/>
            <a:ext cx="25146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800" b="1" i="0">
                <a:solidFill>
                  <a:srgbClr val="E86A10"/>
                </a:solidFill>
                <a:latin typeface="Arial"/>
              </a:rPr>
              <a:t>+85%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413455" y="1764792"/>
            <a:ext cx="2514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Arial"/>
              </a:rPr>
              <a:t>threat-weighted interception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86830" y="118872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6278270" y="1207008"/>
            <a:ext cx="25146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800" b="1" i="0">
                <a:solidFill>
                  <a:srgbClr val="0070C0"/>
                </a:solidFill>
                <a:latin typeface="Arial"/>
              </a:rPr>
              <a:t>−15%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78270" y="1764792"/>
            <a:ext cx="2514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Arial"/>
              </a:rPr>
              <a:t>age of emitter information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051645" y="118872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9143085" y="1207008"/>
            <a:ext cx="251460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800" b="1" i="0">
                <a:solidFill>
                  <a:srgbClr val="1E8C45"/>
                </a:solidFill>
                <a:latin typeface="Arial"/>
              </a:rPr>
              <a:t>81% → 0%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143085" y="1764792"/>
            <a:ext cx="25146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Arial"/>
              </a:rPr>
              <a:t>periodic lock-out removed</a:t>
            </a:r>
          </a:p>
        </p:txBody>
      </p:sp>
      <p:graphicFrame>
        <p:nvGraphicFramePr>
          <p:cNvPr id="17422" name="Chart 17421"/>
          <p:cNvGraphicFramePr>
            <a:graphicFrameLocks noGrp="1"/>
          </p:cNvGraphicFramePr>
          <p:nvPr/>
        </p:nvGraphicFramePr>
        <p:xfrm>
          <a:off x="457200" y="2514600"/>
          <a:ext cx="5577840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23" name="TextBox 17422"/>
          <p:cNvSpPr txBox="1"/>
          <p:nvPr/>
        </p:nvSpPr>
        <p:spPr>
          <a:xfrm>
            <a:off x="6355080" y="25146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sz="2000" b="1" u="sng">
                <a:solidFill>
                  <a:srgbClr val="1F3B6E"/>
                </a:solidFill>
                <a:latin typeface="Arial"/>
              </a:rPr>
              <a:t>Target users &amp; benefits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446520" y="3063240"/>
            <a:ext cx="530352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spcAft>
                <a:spcPts val="700"/>
              </a:spcAft>
              <a:buFont typeface="Arial"/>
              <a:buChar char="•"/>
            </a:pPr>
            <a:r>
              <a:rPr sz="1300" b="1" i="0">
                <a:solidFill>
                  <a:srgbClr val="1F3B6E"/>
                </a:solidFill>
                <a:latin typeface="Arial"/>
              </a:rPr>
              <a:t>Users: </a:t>
            </a:r>
            <a:r>
              <a:rPr sz="1300" b="0" i="0">
                <a:solidFill>
                  <a:srgbClr val="222222"/>
                </a:solidFill>
                <a:latin typeface="Arial"/>
              </a:rPr>
              <a:t>ES/ESM operators of the Army, Navy and Air Force; DRDO (DLRL) and BEL receiver programmes</a:t>
            </a:r>
          </a:p>
          <a:p>
            <a:pPr algn="l" marL="182880" indent="-182880">
              <a:spcAft>
                <a:spcPts val="700"/>
              </a:spcAft>
              <a:buFont typeface="Arial"/>
              <a:buChar char="•"/>
            </a:pPr>
            <a:r>
              <a:rPr sz="1300" b="1" i="0">
                <a:solidFill>
                  <a:srgbClr val="1F3B6E"/>
                </a:solidFill>
                <a:latin typeface="Arial"/>
              </a:rPr>
              <a:t>Operational: </a:t>
            </a:r>
            <a:r>
              <a:rPr sz="1300" b="0" i="0">
                <a:solidFill>
                  <a:srgbClr val="222222"/>
                </a:solidFill>
                <a:latin typeface="Arial"/>
              </a:rPr>
              <a:t>earlier warning of pop-up fire-control and agile radars; better self-protection and SEAD</a:t>
            </a:r>
          </a:p>
          <a:p>
            <a:pPr algn="l" marL="182880" indent="-182880">
              <a:spcAft>
                <a:spcPts val="700"/>
              </a:spcAft>
              <a:buFont typeface="Arial"/>
              <a:buChar char="•"/>
            </a:pPr>
            <a:r>
              <a:rPr sz="1300" b="1" i="0">
                <a:solidFill>
                  <a:srgbClr val="1F3B6E"/>
                </a:solidFill>
                <a:latin typeface="Arial"/>
              </a:rPr>
              <a:t>Economic: </a:t>
            </a:r>
            <a:r>
              <a:rPr sz="1300" b="0" i="0">
                <a:solidFill>
                  <a:srgbClr val="222222"/>
                </a:solidFill>
                <a:latin typeface="Arial"/>
              </a:rPr>
              <a:t>a pure software upgrade to existing swept receivers - no new hardware</a:t>
            </a:r>
          </a:p>
          <a:p>
            <a:pPr algn="l" marL="182880" indent="-182880">
              <a:spcAft>
                <a:spcPts val="700"/>
              </a:spcAft>
              <a:buFont typeface="Arial"/>
              <a:buChar char="•"/>
            </a:pPr>
            <a:r>
              <a:rPr sz="1300" b="1" i="0">
                <a:solidFill>
                  <a:srgbClr val="1F3B6E"/>
                </a:solidFill>
                <a:latin typeface="Arial"/>
              </a:rPr>
              <a:t>Strategic: </a:t>
            </a:r>
            <a:r>
              <a:rPr sz="1300" b="0" i="0">
                <a:solidFill>
                  <a:srgbClr val="222222"/>
                </a:solidFill>
                <a:latin typeface="Arial"/>
              </a:rPr>
              <a:t>indigenous, Atmanirbhar EW capability that adapts without pre-mission intelligence</a:t>
            </a:r>
          </a:p>
          <a:p>
            <a:pPr algn="l" marL="182880" indent="-182880">
              <a:buFont typeface="Arial"/>
              <a:buChar char="•"/>
            </a:pPr>
            <a:r>
              <a:rPr sz="1300" b="1" i="0">
                <a:solidFill>
                  <a:srgbClr val="1F3B6E"/>
                </a:solidFill>
                <a:latin typeface="Arial"/>
              </a:rPr>
              <a:t>Dual-use: </a:t>
            </a:r>
            <a:r>
              <a:rPr sz="1300" b="0" i="0">
                <a:solidFill>
                  <a:srgbClr val="222222"/>
                </a:solidFill>
                <a:latin typeface="Arial"/>
              </a:rPr>
              <a:t>spectrum monitoring, cognitive radio, SIGINT and interference hunting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0776992" y="200248"/>
            <a:ext cx="128016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SMART INDIA</a:t>
            </a:r>
          </a:p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HACKATHON</a:t>
            </a:r>
          </a:p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 r="57500"/>
          <a:stretch/>
        </p:blipFill>
        <p:spPr>
          <a:xfrm>
            <a:off x="9803911" y="81376"/>
            <a:ext cx="954794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 of Bounds</a:t>
            </a:r>
            <a:endParaRPr lang="en-IN" dirty="0"/>
          </a:p>
        </p:txBody>
      </p:sp>
      <p:sp>
        <p:nvSpPr>
          <p:cNvPr id="17410" name="TextBox 17409"/>
          <p:cNvSpPr txBox="1"/>
          <p:nvPr/>
        </p:nvSpPr>
        <p:spPr>
          <a:xfrm>
            <a:off x="320040" y="114300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sz="2000" b="1" u="sng">
                <a:solidFill>
                  <a:srgbClr val="1F3B6E"/>
                </a:solidFill>
                <a:latin typeface="Arial"/>
              </a:rPr>
              <a:t>References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691640"/>
            <a:ext cx="5943600" cy="4526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B6E"/>
                </a:solidFill>
                <a:latin typeface="Arial"/>
              </a:rPr>
              <a:t>[1]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R. G. Wiley, ELINT: The Interception and Analysis of Radar Signals, Artech House, 2006.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B6E"/>
                </a:solidFill>
                <a:latin typeface="Arial"/>
              </a:rPr>
              <a:t>[2]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D. Adamy, EW 101: A First Course in Electronic Warfare, Artech House, 2001.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B6E"/>
                </a:solidFill>
                <a:latin typeface="Arial"/>
              </a:rPr>
              <a:t>[3]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I. V. L. Clarkson, J. E. Perkins, I. M. Y. Mareels, “Number theoretic solutions to intercept time problems,” IEEE Trans. Information Theory, 1996.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B6E"/>
                </a:solidFill>
                <a:latin typeface="Arial"/>
              </a:rPr>
              <a:t>[4]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A. G. Self, B. G. Smith, “Intercept time and its prediction,” IEE Proceedings F, 1985.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B6E"/>
                </a:solidFill>
                <a:latin typeface="Arial"/>
              </a:rPr>
              <a:t>[5]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H. K. Mardia, “New techniques for the deinterleaving of repetitive sequences,” IEE Proceedings F, 1989.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B6E"/>
                </a:solidFill>
                <a:latin typeface="Arial"/>
              </a:rPr>
              <a:t>[6]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H. Urkowitz, “Energy detection of unknown deterministic signals,” Proceedings of the IEEE, 1967.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B6E"/>
                </a:solidFill>
                <a:latin typeface="Arial"/>
              </a:rPr>
              <a:t>[7]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V. Mnih et al., “Human-level control through deep reinforcement learning,” Nature, 2015.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B6E"/>
                </a:solidFill>
                <a:latin typeface="Arial"/>
              </a:rPr>
              <a:t>[8]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H. van Hasselt, A. Guez, D. Silver, “Deep reinforcement learning with double Q-learning,” AAAI, 2016.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B6E"/>
                </a:solidFill>
                <a:latin typeface="Arial"/>
              </a:rPr>
              <a:t>[9]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K. Cho et al., “Learning phrase representations using RNN encoder-decoder…,” EMNLP, 2014 (GRU).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B6E"/>
                </a:solidFill>
                <a:latin typeface="Arial"/>
              </a:rPr>
              <a:t>[10] 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O. Chapelle, L. Li, “An empirical evaluation of Thompson sampling,” NeurIPS, 2011.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6629400" y="11430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sz="2000" b="1" u="sng">
                <a:solidFill>
                  <a:srgbClr val="1F3B6E"/>
                </a:solidFill>
                <a:latin typeface="Arial"/>
              </a:rPr>
              <a:t>Our research findings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720840" y="1691640"/>
            <a:ext cx="502920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1" i="0">
                <a:solidFill>
                  <a:srgbClr val="1F3B6E"/>
                </a:solidFill>
                <a:latin typeface="Arial"/>
              </a:rPr>
              <a:t>Lock-out: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a 16-band sweep never intercepts 81% of phase alignments of a 64-slot scanning radar; revisit period 19 guarantees intercept.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1" i="0">
                <a:solidFill>
                  <a:srgbClr val="1F3B6E"/>
                </a:solidFill>
                <a:latin typeface="Arial"/>
              </a:rPr>
              <a:t>Prediction model: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intercept time within 12.8% and interception ratio within 0.007 of Monte-Carlo simulation.</a:t>
            </a:r>
          </a:p>
          <a:p>
            <a:pPr algn="l" marL="182880" indent="-182880">
              <a:spcAft>
                <a:spcPts val="600"/>
              </a:spcAft>
              <a:buFont typeface="Arial"/>
              <a:buChar char="•"/>
            </a:pPr>
            <a:r>
              <a:rPr sz="1200" b="1" i="0">
                <a:solidFill>
                  <a:srgbClr val="1F3B6E"/>
                </a:solidFill>
                <a:latin typeface="Arial"/>
              </a:rPr>
              <a:t>Learning beats hand-crafting: </a:t>
            </a:r>
            <a:r>
              <a:rPr sz="1200" b="0" i="0">
                <a:solidFill>
                  <a:srgbClr val="222222"/>
                </a:solidFill>
                <a:latin typeface="Arial"/>
              </a:rPr>
              <a:t>GRU cuts intercept-time prediction error from 32.5 to 12.3 slots.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675120" y="3474720"/>
            <a:ext cx="5120640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1F3B6E"/>
                </a:solidFill>
                <a:latin typeface="Arial"/>
              </a:rPr>
              <a:t>Lock-out, visualised: </a:t>
            </a:r>
            <a:r>
              <a:rPr sz="1200" b="0">
                <a:solidFill>
                  <a:srgbClr val="222222"/>
                </a:solidFill>
                <a:latin typeface="Arial"/>
              </a:rPr>
              <a:t>visiting a radar every 16 slots never lands on its beam; every 19 slots catches it at 3.2 s.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0776992" y="200248"/>
            <a:ext cx="128016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SMART INDIA</a:t>
            </a:r>
          </a:p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HACKATHON</a:t>
            </a:r>
          </a:p>
          <a:p>
            <a:pPr algn="ctr">
              <a:lnSpc>
                <a:spcPct val="95000"/>
              </a:lnSpc>
            </a:pPr>
            <a:r>
              <a:rPr sz="1400" b="1">
                <a:solidFill>
                  <a:srgbClr val="415861"/>
                </a:solidFill>
                <a:latin typeface="Arial"/>
              </a:rPr>
              <a:t>2026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720840" y="4224528"/>
            <a:ext cx="15087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4445C"/>
                </a:solidFill>
                <a:latin typeface="Arial"/>
              </a:rPr>
              <a:t>Enemy radar beam on us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8275320" y="4224528"/>
            <a:ext cx="3474719" cy="237744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6720840" y="4636008"/>
            <a:ext cx="15087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4445C"/>
                </a:solidFill>
                <a:latin typeface="Arial"/>
              </a:rPr>
              <a:t>Visit every 16 slots (today)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8275320" y="4636008"/>
            <a:ext cx="3474719" cy="237744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720840" y="5047488"/>
            <a:ext cx="150876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4445C"/>
                </a:solidFill>
                <a:latin typeface="Arial"/>
              </a:rPr>
              <a:t>Visit every 19 slots (optimal)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8275320" y="5047488"/>
            <a:ext cx="3474719" cy="237744"/>
          </a:xfrm>
          <a:prstGeom prst="rect">
            <a:avLst/>
          </a:prstGeom>
          <a:solidFill>
            <a:srgbClr val="E9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8283024" y="4224528"/>
            <a:ext cx="32004" cy="237744"/>
          </a:xfrm>
          <a:prstGeom prst="rect">
            <a:avLst/>
          </a:prstGeom>
          <a:solidFill>
            <a:srgbClr val="E05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ectangle 17424"/>
          <p:cNvSpPr/>
          <p:nvPr/>
        </p:nvSpPr>
        <p:spPr>
          <a:xfrm>
            <a:off x="8776111" y="4224528"/>
            <a:ext cx="32004" cy="237744"/>
          </a:xfrm>
          <a:prstGeom prst="rect">
            <a:avLst/>
          </a:prstGeom>
          <a:solidFill>
            <a:srgbClr val="E05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ectangle 17425"/>
          <p:cNvSpPr/>
          <p:nvPr/>
        </p:nvSpPr>
        <p:spPr>
          <a:xfrm>
            <a:off x="9269197" y="4224528"/>
            <a:ext cx="32004" cy="237744"/>
          </a:xfrm>
          <a:prstGeom prst="rect">
            <a:avLst/>
          </a:prstGeom>
          <a:solidFill>
            <a:srgbClr val="E05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ectangle 17426"/>
          <p:cNvSpPr/>
          <p:nvPr/>
        </p:nvSpPr>
        <p:spPr>
          <a:xfrm>
            <a:off x="9762284" y="4224528"/>
            <a:ext cx="32004" cy="237744"/>
          </a:xfrm>
          <a:prstGeom prst="rect">
            <a:avLst/>
          </a:prstGeom>
          <a:solidFill>
            <a:srgbClr val="E05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ectangle 17427"/>
          <p:cNvSpPr/>
          <p:nvPr/>
        </p:nvSpPr>
        <p:spPr>
          <a:xfrm>
            <a:off x="10255371" y="4224528"/>
            <a:ext cx="32004" cy="237744"/>
          </a:xfrm>
          <a:prstGeom prst="rect">
            <a:avLst/>
          </a:prstGeom>
          <a:solidFill>
            <a:srgbClr val="E05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10748457" y="4224528"/>
            <a:ext cx="32004" cy="237744"/>
          </a:xfrm>
          <a:prstGeom prst="rect">
            <a:avLst/>
          </a:prstGeom>
          <a:solidFill>
            <a:srgbClr val="E05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ectangle 17429"/>
          <p:cNvSpPr/>
          <p:nvPr/>
        </p:nvSpPr>
        <p:spPr>
          <a:xfrm>
            <a:off x="11241544" y="4224528"/>
            <a:ext cx="32004" cy="237744"/>
          </a:xfrm>
          <a:prstGeom prst="rect">
            <a:avLst/>
          </a:prstGeom>
          <a:solidFill>
            <a:srgbClr val="E05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ectangle 17430"/>
          <p:cNvSpPr/>
          <p:nvPr/>
        </p:nvSpPr>
        <p:spPr>
          <a:xfrm>
            <a:off x="11734631" y="4224528"/>
            <a:ext cx="32004" cy="237744"/>
          </a:xfrm>
          <a:prstGeom prst="rect">
            <a:avLst/>
          </a:prstGeom>
          <a:solidFill>
            <a:srgbClr val="E05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ectangle 17431"/>
          <p:cNvSpPr/>
          <p:nvPr/>
        </p:nvSpPr>
        <p:spPr>
          <a:xfrm>
            <a:off x="8268919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ectangle 17432"/>
          <p:cNvSpPr/>
          <p:nvPr/>
        </p:nvSpPr>
        <p:spPr>
          <a:xfrm>
            <a:off x="8392190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ectangle 17433"/>
          <p:cNvSpPr/>
          <p:nvPr/>
        </p:nvSpPr>
        <p:spPr>
          <a:xfrm>
            <a:off x="8515462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ectangle 17434"/>
          <p:cNvSpPr/>
          <p:nvPr/>
        </p:nvSpPr>
        <p:spPr>
          <a:xfrm>
            <a:off x="8638734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ectangle 17435"/>
          <p:cNvSpPr/>
          <p:nvPr/>
        </p:nvSpPr>
        <p:spPr>
          <a:xfrm>
            <a:off x="8762005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ectangle 17436"/>
          <p:cNvSpPr/>
          <p:nvPr/>
        </p:nvSpPr>
        <p:spPr>
          <a:xfrm>
            <a:off x="8885277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ectangle 17437"/>
          <p:cNvSpPr/>
          <p:nvPr/>
        </p:nvSpPr>
        <p:spPr>
          <a:xfrm>
            <a:off x="9008549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ectangle 17438"/>
          <p:cNvSpPr/>
          <p:nvPr/>
        </p:nvSpPr>
        <p:spPr>
          <a:xfrm>
            <a:off x="9131820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ectangle 17439"/>
          <p:cNvSpPr/>
          <p:nvPr/>
        </p:nvSpPr>
        <p:spPr>
          <a:xfrm>
            <a:off x="9255092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Rectangle 17440"/>
          <p:cNvSpPr/>
          <p:nvPr/>
        </p:nvSpPr>
        <p:spPr>
          <a:xfrm>
            <a:off x="9378364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ectangle 17441"/>
          <p:cNvSpPr/>
          <p:nvPr/>
        </p:nvSpPr>
        <p:spPr>
          <a:xfrm>
            <a:off x="9501635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ectangle 17442"/>
          <p:cNvSpPr/>
          <p:nvPr/>
        </p:nvSpPr>
        <p:spPr>
          <a:xfrm>
            <a:off x="9624907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Rectangle 17443"/>
          <p:cNvSpPr/>
          <p:nvPr/>
        </p:nvSpPr>
        <p:spPr>
          <a:xfrm>
            <a:off x="9748179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Rectangle 17444"/>
          <p:cNvSpPr/>
          <p:nvPr/>
        </p:nvSpPr>
        <p:spPr>
          <a:xfrm>
            <a:off x="9871450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Rectangle 17445"/>
          <p:cNvSpPr/>
          <p:nvPr/>
        </p:nvSpPr>
        <p:spPr>
          <a:xfrm>
            <a:off x="9994722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Rectangle 17446"/>
          <p:cNvSpPr/>
          <p:nvPr/>
        </p:nvSpPr>
        <p:spPr>
          <a:xfrm>
            <a:off x="10117994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Rectangle 17447"/>
          <p:cNvSpPr/>
          <p:nvPr/>
        </p:nvSpPr>
        <p:spPr>
          <a:xfrm>
            <a:off x="10241265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ectangle 17448"/>
          <p:cNvSpPr/>
          <p:nvPr/>
        </p:nvSpPr>
        <p:spPr>
          <a:xfrm>
            <a:off x="10364537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Rectangle 17449"/>
          <p:cNvSpPr/>
          <p:nvPr/>
        </p:nvSpPr>
        <p:spPr>
          <a:xfrm>
            <a:off x="10487809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Rectangle 17450"/>
          <p:cNvSpPr/>
          <p:nvPr/>
        </p:nvSpPr>
        <p:spPr>
          <a:xfrm>
            <a:off x="10611080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Rectangle 17451"/>
          <p:cNvSpPr/>
          <p:nvPr/>
        </p:nvSpPr>
        <p:spPr>
          <a:xfrm>
            <a:off x="10734352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Rectangle 17452"/>
          <p:cNvSpPr/>
          <p:nvPr/>
        </p:nvSpPr>
        <p:spPr>
          <a:xfrm>
            <a:off x="10857624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Rectangle 17453"/>
          <p:cNvSpPr/>
          <p:nvPr/>
        </p:nvSpPr>
        <p:spPr>
          <a:xfrm>
            <a:off x="10980895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Rectangle 17454"/>
          <p:cNvSpPr/>
          <p:nvPr/>
        </p:nvSpPr>
        <p:spPr>
          <a:xfrm>
            <a:off x="11104167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Rectangle 17455"/>
          <p:cNvSpPr/>
          <p:nvPr/>
        </p:nvSpPr>
        <p:spPr>
          <a:xfrm>
            <a:off x="11227439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Rectangle 17456"/>
          <p:cNvSpPr/>
          <p:nvPr/>
        </p:nvSpPr>
        <p:spPr>
          <a:xfrm>
            <a:off x="11350710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Rectangle 17457"/>
          <p:cNvSpPr/>
          <p:nvPr/>
        </p:nvSpPr>
        <p:spPr>
          <a:xfrm>
            <a:off x="11473982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Rectangle 17458"/>
          <p:cNvSpPr/>
          <p:nvPr/>
        </p:nvSpPr>
        <p:spPr>
          <a:xfrm>
            <a:off x="11597254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Rectangle 17459"/>
          <p:cNvSpPr/>
          <p:nvPr/>
        </p:nvSpPr>
        <p:spPr>
          <a:xfrm>
            <a:off x="11720525" y="4681728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Rectangle 17460"/>
          <p:cNvSpPr/>
          <p:nvPr/>
        </p:nvSpPr>
        <p:spPr>
          <a:xfrm>
            <a:off x="8268919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2" name="Rectangle 17461"/>
          <p:cNvSpPr/>
          <p:nvPr/>
        </p:nvSpPr>
        <p:spPr>
          <a:xfrm>
            <a:off x="8415304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Rectangle 17462"/>
          <p:cNvSpPr/>
          <p:nvPr/>
        </p:nvSpPr>
        <p:spPr>
          <a:xfrm>
            <a:off x="8561689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Rectangle 17463"/>
          <p:cNvSpPr/>
          <p:nvPr/>
        </p:nvSpPr>
        <p:spPr>
          <a:xfrm>
            <a:off x="8708074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5" name="Rectangle 17464"/>
          <p:cNvSpPr/>
          <p:nvPr/>
        </p:nvSpPr>
        <p:spPr>
          <a:xfrm>
            <a:off x="8854459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Rectangle 17465"/>
          <p:cNvSpPr/>
          <p:nvPr/>
        </p:nvSpPr>
        <p:spPr>
          <a:xfrm>
            <a:off x="9000844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7" name="Rectangle 17466"/>
          <p:cNvSpPr/>
          <p:nvPr/>
        </p:nvSpPr>
        <p:spPr>
          <a:xfrm>
            <a:off x="9147229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Rectangle 17467"/>
          <p:cNvSpPr/>
          <p:nvPr/>
        </p:nvSpPr>
        <p:spPr>
          <a:xfrm>
            <a:off x="9293614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Rectangle 17468"/>
          <p:cNvSpPr/>
          <p:nvPr/>
        </p:nvSpPr>
        <p:spPr>
          <a:xfrm>
            <a:off x="9439999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Rectangle 17469"/>
          <p:cNvSpPr/>
          <p:nvPr/>
        </p:nvSpPr>
        <p:spPr>
          <a:xfrm>
            <a:off x="9586385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1" name="Rectangle 17470"/>
          <p:cNvSpPr/>
          <p:nvPr/>
        </p:nvSpPr>
        <p:spPr>
          <a:xfrm>
            <a:off x="9732770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Rectangle 17471"/>
          <p:cNvSpPr/>
          <p:nvPr/>
        </p:nvSpPr>
        <p:spPr>
          <a:xfrm>
            <a:off x="9879155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3" name="Rectangle 17472"/>
          <p:cNvSpPr/>
          <p:nvPr/>
        </p:nvSpPr>
        <p:spPr>
          <a:xfrm>
            <a:off x="10025540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4" name="Rectangle 17473"/>
          <p:cNvSpPr/>
          <p:nvPr/>
        </p:nvSpPr>
        <p:spPr>
          <a:xfrm>
            <a:off x="10171925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5" name="Rectangle 17474"/>
          <p:cNvSpPr/>
          <p:nvPr/>
        </p:nvSpPr>
        <p:spPr>
          <a:xfrm>
            <a:off x="10318310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6" name="Rectangle 17475"/>
          <p:cNvSpPr/>
          <p:nvPr/>
        </p:nvSpPr>
        <p:spPr>
          <a:xfrm>
            <a:off x="10464695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7" name="Rectangle 17476"/>
          <p:cNvSpPr/>
          <p:nvPr/>
        </p:nvSpPr>
        <p:spPr>
          <a:xfrm>
            <a:off x="10611080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8" name="Rectangle 17477"/>
          <p:cNvSpPr/>
          <p:nvPr/>
        </p:nvSpPr>
        <p:spPr>
          <a:xfrm>
            <a:off x="10745578" y="5029200"/>
            <a:ext cx="45720" cy="274320"/>
          </a:xfrm>
          <a:prstGeom prst="rect">
            <a:avLst/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9" name="Rectangle 17478"/>
          <p:cNvSpPr/>
          <p:nvPr/>
        </p:nvSpPr>
        <p:spPr>
          <a:xfrm>
            <a:off x="10903850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0" name="Rectangle 17479"/>
          <p:cNvSpPr/>
          <p:nvPr/>
        </p:nvSpPr>
        <p:spPr>
          <a:xfrm>
            <a:off x="11050236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1" name="Rectangle 17480"/>
          <p:cNvSpPr/>
          <p:nvPr/>
        </p:nvSpPr>
        <p:spPr>
          <a:xfrm>
            <a:off x="11196621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2" name="Rectangle 17481"/>
          <p:cNvSpPr/>
          <p:nvPr/>
        </p:nvSpPr>
        <p:spPr>
          <a:xfrm>
            <a:off x="11343006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3" name="Rectangle 17482"/>
          <p:cNvSpPr/>
          <p:nvPr/>
        </p:nvSpPr>
        <p:spPr>
          <a:xfrm>
            <a:off x="11489391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4" name="Rectangle 17483"/>
          <p:cNvSpPr/>
          <p:nvPr/>
        </p:nvSpPr>
        <p:spPr>
          <a:xfrm>
            <a:off x="11635776" y="5093207"/>
            <a:ext cx="12801" cy="146304"/>
          </a:xfrm>
          <a:prstGeom prst="rect">
            <a:avLst/>
          </a:prstGeom>
          <a:solidFill>
            <a:srgbClr val="5D6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5" name="TextBox 17484"/>
          <p:cNvSpPr txBox="1"/>
          <p:nvPr/>
        </p:nvSpPr>
        <p:spPr>
          <a:xfrm>
            <a:off x="10287000" y="4453128"/>
            <a:ext cx="1463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>
                <a:solidFill>
                  <a:srgbClr val="D93A32"/>
                </a:solidFill>
                <a:latin typeface="Arial"/>
              </a:rPr>
              <a:t>never caught ✗</a:t>
            </a:r>
          </a:p>
        </p:txBody>
      </p:sp>
      <p:cxnSp>
        <p:nvCxnSpPr>
          <p:cNvPr id="17486" name="Connector 17485"/>
          <p:cNvCxnSpPr/>
          <p:nvPr/>
        </p:nvCxnSpPr>
        <p:spPr>
          <a:xfrm>
            <a:off x="10763866" y="4462272"/>
            <a:ext cx="0" cy="585216"/>
          </a:xfrm>
          <a:prstGeom prst="line">
            <a:avLst/>
          </a:prstGeom>
          <a:ln w="15875">
            <a:solidFill>
              <a:srgbClr val="12A1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7" name="TextBox 17486"/>
          <p:cNvSpPr txBox="1"/>
          <p:nvPr/>
        </p:nvSpPr>
        <p:spPr>
          <a:xfrm>
            <a:off x="10818730" y="4864607"/>
            <a:ext cx="1463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>
                <a:solidFill>
                  <a:srgbClr val="12A150"/>
                </a:solidFill>
                <a:latin typeface="Arial"/>
              </a:rPr>
              <a:t>caught at 3.23 s ✓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8046720" y="5321807"/>
            <a:ext cx="45720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D6C82"/>
                </a:solidFill>
                <a:latin typeface="Arial"/>
              </a:rPr>
              <a:t>0.0 s</a:t>
            </a:r>
          </a:p>
        </p:txBody>
      </p:sp>
      <p:sp>
        <p:nvSpPr>
          <p:cNvPr id="17489" name="TextBox 17488"/>
          <p:cNvSpPr txBox="1"/>
          <p:nvPr/>
        </p:nvSpPr>
        <p:spPr>
          <a:xfrm>
            <a:off x="8817167" y="5321807"/>
            <a:ext cx="45720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D6C82"/>
                </a:solidFill>
                <a:latin typeface="Arial"/>
              </a:rPr>
              <a:t>1.0 s</a:t>
            </a:r>
          </a:p>
        </p:txBody>
      </p:sp>
      <p:sp>
        <p:nvSpPr>
          <p:cNvPr id="17490" name="TextBox 17489"/>
          <p:cNvSpPr txBox="1"/>
          <p:nvPr/>
        </p:nvSpPr>
        <p:spPr>
          <a:xfrm>
            <a:off x="9587615" y="5321807"/>
            <a:ext cx="45720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D6C82"/>
                </a:solidFill>
                <a:latin typeface="Arial"/>
              </a:rPr>
              <a:t>2.0 s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10358063" y="5321807"/>
            <a:ext cx="45720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D6C82"/>
                </a:solidFill>
                <a:latin typeface="Arial"/>
              </a:rPr>
              <a:t>3.0 s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11128511" y="5321807"/>
            <a:ext cx="45720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D6C82"/>
                </a:solidFill>
                <a:latin typeface="Arial"/>
              </a:rPr>
              <a:t>4.0 s</a:t>
            </a:r>
          </a:p>
        </p:txBody>
      </p:sp>
      <p:sp>
        <p:nvSpPr>
          <p:cNvPr id="17493" name="TextBox 17492"/>
          <p:cNvSpPr txBox="1"/>
          <p:nvPr/>
        </p:nvSpPr>
        <p:spPr>
          <a:xfrm>
            <a:off x="6675120" y="5596128"/>
            <a:ext cx="5120640" cy="566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50" b="0">
                <a:solidFill>
                  <a:srgbClr val="5D6C82"/>
                </a:solidFill>
                <a:latin typeface="Arial"/>
              </a:rPr>
              <a:t>Red = radar beam pointing at us. Ticks = receiver visits. </a:t>
            </a:r>
            <a:r>
              <a:rPr sz="1050" b="1">
                <a:solidFill>
                  <a:srgbClr val="12A150"/>
                </a:solidFill>
                <a:latin typeface="Arial"/>
              </a:rPr>
              <a:t>Green = caught. </a:t>
            </a:r>
            <a:r>
              <a:rPr sz="1050" b="0">
                <a:solidFill>
                  <a:srgbClr val="5D6C82"/>
                </a:solidFill>
                <a:latin typeface="Arial"/>
              </a:rPr>
              <a:t>The AI goes further: it learns each radar's rotation and returns exactly when the beam is due.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7485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2024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146</cp:revision>
  <dcterms:created xsi:type="dcterms:W3CDTF">2013-12-12T18:46:50Z</dcterms:created>
  <dcterms:modified xsi:type="dcterms:W3CDTF">2024-08-20T05:35:57Z</dcterms:modified>
  <cp:category/>
</cp:coreProperties>
</file>